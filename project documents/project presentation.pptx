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31"/>
  </p:notesMasterIdLst>
  <p:sldIdLst>
    <p:sldId id="256" r:id="rId2"/>
    <p:sldId id="281" r:id="rId3"/>
    <p:sldId id="257" r:id="rId4"/>
    <p:sldId id="260" r:id="rId5"/>
    <p:sldId id="262" r:id="rId6"/>
    <p:sldId id="261" r:id="rId7"/>
    <p:sldId id="282" r:id="rId8"/>
    <p:sldId id="285" r:id="rId9"/>
    <p:sldId id="286" r:id="rId10"/>
    <p:sldId id="287" r:id="rId11"/>
    <p:sldId id="288" r:id="rId12"/>
    <p:sldId id="265" r:id="rId13"/>
    <p:sldId id="290" r:id="rId14"/>
    <p:sldId id="289" r:id="rId15"/>
    <p:sldId id="291" r:id="rId16"/>
    <p:sldId id="275" r:id="rId17"/>
    <p:sldId id="279" r:id="rId18"/>
    <p:sldId id="280" r:id="rId19"/>
    <p:sldId id="269" r:id="rId20"/>
    <p:sldId id="292" r:id="rId21"/>
    <p:sldId id="293" r:id="rId22"/>
    <p:sldId id="294" r:id="rId23"/>
    <p:sldId id="273" r:id="rId24"/>
    <p:sldId id="295" r:id="rId25"/>
    <p:sldId id="296" r:id="rId26"/>
    <p:sldId id="297" r:id="rId27"/>
    <p:sldId id="298" r:id="rId28"/>
    <p:sldId id="272" r:id="rId29"/>
    <p:sldId id="29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EC"/>
    <a:srgbClr val="E787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8" d="100"/>
          <a:sy n="78" d="100"/>
        </p:scale>
        <p:origin x="1032"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BD302-AA00-4754-9450-2D6CFA6EA2A5}"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D2EB44-EF93-4D89-97F1-9FFC48BB088D}" type="slidenum">
              <a:rPr lang="en-IN" smtClean="0"/>
              <a:t>‹#›</a:t>
            </a:fld>
            <a:endParaRPr lang="en-IN"/>
          </a:p>
        </p:txBody>
      </p:sp>
    </p:spTree>
    <p:extLst>
      <p:ext uri="{BB962C8B-B14F-4D97-AF65-F5344CB8AC3E}">
        <p14:creationId xmlns:p14="http://schemas.microsoft.com/office/powerpoint/2010/main" val="2144543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D2EB44-EF93-4D89-97F1-9FFC48BB088D}" type="slidenum">
              <a:rPr lang="en-IN" smtClean="0"/>
              <a:t>16</a:t>
            </a:fld>
            <a:endParaRPr lang="en-IN"/>
          </a:p>
        </p:txBody>
      </p:sp>
    </p:spTree>
    <p:extLst>
      <p:ext uri="{BB962C8B-B14F-4D97-AF65-F5344CB8AC3E}">
        <p14:creationId xmlns:p14="http://schemas.microsoft.com/office/powerpoint/2010/main" val="672627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40835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1435882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474296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AE673F-EFD8-409C-A53E-6D66B12A04A2}"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90206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AE673F-EFD8-409C-A53E-6D66B12A04A2}" type="datetimeFigureOut">
              <a:rPr lang="en-IN" smtClean="0"/>
              <a:t>06-05-2026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4035240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AE673F-EFD8-409C-A53E-6D66B12A04A2}" type="datetimeFigureOut">
              <a:rPr lang="en-IN" smtClean="0"/>
              <a:t>06-05-2026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1340929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AE673F-EFD8-409C-A53E-6D66B12A04A2}" type="datetimeFigureOut">
              <a:rPr lang="en-IN" smtClean="0"/>
              <a:t>06-05-2026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3594109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AE673F-EFD8-409C-A53E-6D66B12A04A2}"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1672613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AE673F-EFD8-409C-A53E-6D66B12A04A2}"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120137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401513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0DAE72A-8D00-4B77-8AC4-CF6F5A8C001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11450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AE673F-EFD8-409C-A53E-6D66B12A04A2}"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468619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AE673F-EFD8-409C-A53E-6D66B12A04A2}"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DAE72A-8D00-4B77-8AC4-CF6F5A8C001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727125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AE673F-EFD8-409C-A53E-6D66B12A04A2}" type="datetimeFigureOut">
              <a:rPr lang="en-IN" smtClean="0"/>
              <a:t>06-05-2026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504406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642655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E673F-EFD8-409C-A53E-6D66B12A04A2}" type="datetimeFigureOut">
              <a:rPr lang="en-IN" smtClean="0"/>
              <a:t>06-05-2026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0DAE72A-8D00-4B77-8AC4-CF6F5A8C001C}" type="slidenum">
              <a:rPr lang="en-IN" smtClean="0"/>
              <a:t>‹#›</a:t>
            </a:fld>
            <a:endParaRPr lang="en-IN"/>
          </a:p>
        </p:txBody>
      </p:sp>
    </p:spTree>
    <p:extLst>
      <p:ext uri="{BB962C8B-B14F-4D97-AF65-F5344CB8AC3E}">
        <p14:creationId xmlns:p14="http://schemas.microsoft.com/office/powerpoint/2010/main" val="231243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CAE673F-EFD8-409C-A53E-6D66B12A04A2}" type="datetimeFigureOut">
              <a:rPr lang="en-IN" smtClean="0"/>
              <a:t>06-05-2026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0DAE72A-8D00-4B77-8AC4-CF6F5A8C001C}" type="slidenum">
              <a:rPr lang="en-IN" smtClean="0"/>
              <a:t>‹#›</a:t>
            </a:fld>
            <a:endParaRPr lang="en-IN"/>
          </a:p>
        </p:txBody>
      </p:sp>
    </p:spTree>
    <p:extLst>
      <p:ext uri="{BB962C8B-B14F-4D97-AF65-F5344CB8AC3E}">
        <p14:creationId xmlns:p14="http://schemas.microsoft.com/office/powerpoint/2010/main" val="1379162901"/>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your-username/Hospital-management-system.git"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0813-B1C4-7535-5D53-96EA076DB5B2}"/>
              </a:ext>
            </a:extLst>
          </p:cNvPr>
          <p:cNvSpPr>
            <a:spLocks noGrp="1"/>
          </p:cNvSpPr>
          <p:nvPr>
            <p:ph type="ctrTitle"/>
          </p:nvPr>
        </p:nvSpPr>
        <p:spPr>
          <a:xfrm>
            <a:off x="1161143" y="2211747"/>
            <a:ext cx="10081479" cy="923330"/>
          </a:xfrm>
        </p:spPr>
        <p:txBody>
          <a:bodyPr>
            <a:noAutofit/>
          </a:bodyPr>
          <a:lstStyle/>
          <a:p>
            <a:pPr algn="ctr"/>
            <a:r>
              <a:rPr lang="en-US" sz="3000" dirty="0">
                <a:latin typeface="Times New Roman" panose="02020603050405020304" pitchFamily="18" charset="0"/>
                <a:cs typeface="Times New Roman" panose="02020603050405020304" pitchFamily="18" charset="0"/>
              </a:rPr>
              <a:t>An Automated Risk Mitigation in Healthcare Software Delivery using CI&amp;CD Pipelines</a:t>
            </a:r>
            <a:endParaRPr lang="en-IN" sz="3000" dirty="0"/>
          </a:p>
        </p:txBody>
      </p:sp>
      <p:sp>
        <p:nvSpPr>
          <p:cNvPr id="4" name="TextBox 3">
            <a:extLst>
              <a:ext uri="{FF2B5EF4-FFF2-40B4-BE49-F238E27FC236}">
                <a16:creationId xmlns:a16="http://schemas.microsoft.com/office/drawing/2014/main" id="{167E0E24-F589-2BB0-9035-48DA468E901F}"/>
              </a:ext>
            </a:extLst>
          </p:cNvPr>
          <p:cNvSpPr txBox="1"/>
          <p:nvPr/>
        </p:nvSpPr>
        <p:spPr>
          <a:xfrm>
            <a:off x="1161142" y="4938320"/>
            <a:ext cx="4355737" cy="1046440"/>
          </a:xfrm>
          <a:prstGeom prst="rect">
            <a:avLst/>
          </a:prstGeom>
          <a:noFill/>
        </p:spPr>
        <p:txBody>
          <a:bodyPr wrap="square" rtlCol="0">
            <a:spAutoFit/>
          </a:bodyPr>
          <a:lstStyle/>
          <a:p>
            <a:pPr algn="ctr"/>
            <a:r>
              <a:rPr lang="en-IN" b="1" dirty="0"/>
              <a:t>Presented By</a:t>
            </a:r>
          </a:p>
          <a:p>
            <a:pPr algn="ctr"/>
            <a:r>
              <a:rPr lang="en-US" sz="2200" dirty="0">
                <a:latin typeface="Times New Roman" panose="02020603050405020304" pitchFamily="18" charset="0"/>
                <a:cs typeface="Times New Roman" panose="02020603050405020304" pitchFamily="18" charset="0"/>
              </a:rPr>
              <a:t>J. Salai Sanmargam-810022104072</a:t>
            </a:r>
          </a:p>
          <a:p>
            <a:pPr algn="ctr"/>
            <a:r>
              <a:rPr lang="en-US" sz="2200" dirty="0">
                <a:latin typeface="Times New Roman" panose="02020603050405020304" pitchFamily="18" charset="0"/>
                <a:cs typeface="Times New Roman" panose="02020603050405020304" pitchFamily="18" charset="0"/>
              </a:rPr>
              <a:t>S. Sathish – 810022104075</a:t>
            </a:r>
            <a:endParaRPr lang="en-IN"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D97E27E-D512-448F-6C23-D1AE6DDF07EE}"/>
              </a:ext>
            </a:extLst>
          </p:cNvPr>
          <p:cNvSpPr txBox="1"/>
          <p:nvPr/>
        </p:nvSpPr>
        <p:spPr>
          <a:xfrm>
            <a:off x="5913223" y="4938320"/>
            <a:ext cx="6113489" cy="1384995"/>
          </a:xfrm>
          <a:prstGeom prst="rect">
            <a:avLst/>
          </a:prstGeom>
          <a:noFill/>
        </p:spPr>
        <p:txBody>
          <a:bodyPr wrap="square" rtlCol="0">
            <a:spAutoFit/>
          </a:bodyPr>
          <a:lstStyle/>
          <a:p>
            <a:pPr algn="ctr"/>
            <a:r>
              <a:rPr lang="en-IN" b="1" dirty="0"/>
              <a:t>Guided By</a:t>
            </a:r>
          </a:p>
          <a:p>
            <a:pPr algn="ctr"/>
            <a:r>
              <a:rPr lang="en-IN" sz="2200" dirty="0">
                <a:latin typeface="Times New Roman" panose="02020603050405020304" pitchFamily="18" charset="0"/>
                <a:cs typeface="Times New Roman" panose="02020603050405020304" pitchFamily="18" charset="0"/>
              </a:rPr>
              <a:t>Dr. P. Karthikeyan</a:t>
            </a:r>
          </a:p>
          <a:p>
            <a:pPr algn="ctr"/>
            <a:r>
              <a:rPr lang="en-IN" sz="2200" dirty="0">
                <a:latin typeface="Times New Roman" panose="02020603050405020304" pitchFamily="18" charset="0"/>
                <a:cs typeface="Times New Roman" panose="02020603050405020304" pitchFamily="18" charset="0"/>
              </a:rPr>
              <a:t>Assistant Professor</a:t>
            </a:r>
          </a:p>
          <a:p>
            <a:pPr algn="ctr"/>
            <a:r>
              <a:rPr lang="en-IN" sz="2200" dirty="0">
                <a:latin typeface="Times New Roman" panose="02020603050405020304" pitchFamily="18" charset="0"/>
                <a:cs typeface="Times New Roman" panose="02020603050405020304" pitchFamily="18" charset="0"/>
              </a:rPr>
              <a:t>Department of CSE</a:t>
            </a:r>
          </a:p>
        </p:txBody>
      </p:sp>
    </p:spTree>
    <p:extLst>
      <p:ext uri="{BB962C8B-B14F-4D97-AF65-F5344CB8AC3E}">
        <p14:creationId xmlns:p14="http://schemas.microsoft.com/office/powerpoint/2010/main" val="539750330"/>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9EE46-368B-9CE0-4094-36C08A18AC56}"/>
              </a:ext>
            </a:extLst>
          </p:cNvPr>
          <p:cNvSpPr>
            <a:spLocks noGrp="1"/>
          </p:cNvSpPr>
          <p:nvPr>
            <p:ph idx="1"/>
          </p:nvPr>
        </p:nvSpPr>
        <p:spPr>
          <a:xfrm>
            <a:off x="1932709" y="920762"/>
            <a:ext cx="9642764" cy="5016475"/>
          </a:xfrm>
        </p:spPr>
        <p:txBody>
          <a:bodyPr>
            <a:noAutofit/>
          </a:bodyPr>
          <a:lstStyle/>
          <a:p>
            <a:pPr marL="0" indent="0" algn="just">
              <a:buNone/>
            </a:pPr>
            <a:r>
              <a:rPr lang="en-IN" sz="2400" b="1" dirty="0">
                <a:solidFill>
                  <a:schemeClr val="tx1"/>
                </a:solidFill>
                <a:latin typeface="Times New Roman" panose="02020603050405020304" pitchFamily="18" charset="0"/>
                <a:cs typeface="Times New Roman" panose="02020603050405020304" pitchFamily="18" charset="0"/>
              </a:rPr>
              <a:t>ABSTRACT</a:t>
            </a:r>
          </a:p>
          <a:p>
            <a:pPr marL="0" indent="0" algn="just">
              <a:buNone/>
            </a:pPr>
            <a:r>
              <a:rPr lang="en-US" sz="2200" dirty="0">
                <a:solidFill>
                  <a:schemeClr val="tx1"/>
                </a:solidFill>
                <a:latin typeface="Times New Roman" panose="02020603050405020304" pitchFamily="18" charset="0"/>
                <a:cs typeface="Times New Roman" panose="02020603050405020304" pitchFamily="18" charset="0"/>
              </a:rPr>
              <a:t>	Hospital Management Systems (HMS) require high availability, strong data security, and reliable software updates. Traditional manual deployment methods are slow and error-prone, making them unsuitable for healthcare applications. This project presents a secure, automated CI/CD pipeline for an HMS, addressing risks across input, runtime, and output stages. The pipeline integrates tools such as </a:t>
            </a:r>
            <a:r>
              <a:rPr lang="en-US" sz="2200" dirty="0" err="1">
                <a:solidFill>
                  <a:schemeClr val="tx1"/>
                </a:solidFill>
                <a:latin typeface="Times New Roman" panose="02020603050405020304" pitchFamily="18" charset="0"/>
                <a:cs typeface="Times New Roman" panose="02020603050405020304" pitchFamily="18" charset="0"/>
              </a:rPr>
              <a:t>Gitleaks</a:t>
            </a:r>
            <a:r>
              <a:rPr lang="en-US" sz="2200" dirty="0">
                <a:solidFill>
                  <a:schemeClr val="tx1"/>
                </a:solidFill>
                <a:latin typeface="Times New Roman" panose="02020603050405020304" pitchFamily="18" charset="0"/>
                <a:cs typeface="Times New Roman" panose="02020603050405020304" pitchFamily="18" charset="0"/>
              </a:rPr>
              <a:t> for secret scanning, </a:t>
            </a:r>
            <a:r>
              <a:rPr lang="en-US" sz="2200" dirty="0" err="1">
                <a:solidFill>
                  <a:schemeClr val="tx1"/>
                </a:solidFill>
                <a:latin typeface="Times New Roman" panose="02020603050405020304" pitchFamily="18" charset="0"/>
                <a:cs typeface="Times New Roman" panose="02020603050405020304" pitchFamily="18" charset="0"/>
              </a:rPr>
              <a:t>Pytest</a:t>
            </a:r>
            <a:r>
              <a:rPr lang="en-US" sz="2200" dirty="0">
                <a:solidFill>
                  <a:schemeClr val="tx1"/>
                </a:solidFill>
                <a:latin typeface="Times New Roman" panose="02020603050405020304" pitchFamily="18" charset="0"/>
                <a:cs typeface="Times New Roman" panose="02020603050405020304" pitchFamily="18" charset="0"/>
              </a:rPr>
              <a:t> for backend testing, TypeScript and Vite for frontend validation, </a:t>
            </a:r>
            <a:r>
              <a:rPr lang="en-US" sz="2200" dirty="0" err="1">
                <a:solidFill>
                  <a:schemeClr val="tx1"/>
                </a:solidFill>
                <a:latin typeface="Times New Roman" panose="02020603050405020304" pitchFamily="18" charset="0"/>
                <a:cs typeface="Times New Roman" panose="02020603050405020304" pitchFamily="18" charset="0"/>
              </a:rPr>
              <a:t>Trivy</a:t>
            </a:r>
            <a:r>
              <a:rPr lang="en-US" sz="2200" dirty="0">
                <a:solidFill>
                  <a:schemeClr val="tx1"/>
                </a:solidFill>
                <a:latin typeface="Times New Roman" panose="02020603050405020304" pitchFamily="18" charset="0"/>
                <a:cs typeface="Times New Roman" panose="02020603050405020304" pitchFamily="18" charset="0"/>
              </a:rPr>
              <a:t> for container security, and GitHub Container Registry with </a:t>
            </a:r>
            <a:r>
              <a:rPr lang="en-US" sz="2200" dirty="0" err="1">
                <a:solidFill>
                  <a:schemeClr val="tx1"/>
                </a:solidFill>
                <a:latin typeface="Times New Roman" panose="02020603050405020304" pitchFamily="18" charset="0"/>
                <a:cs typeface="Times New Roman" panose="02020603050405020304" pitchFamily="18" charset="0"/>
              </a:rPr>
              <a:t>Vercel</a:t>
            </a:r>
            <a:r>
              <a:rPr lang="en-US" sz="2200" dirty="0">
                <a:solidFill>
                  <a:schemeClr val="tx1"/>
                </a:solidFill>
                <a:latin typeface="Times New Roman" panose="02020603050405020304" pitchFamily="18" charset="0"/>
                <a:cs typeface="Times New Roman" panose="02020603050405020304" pitchFamily="18" charset="0"/>
              </a:rPr>
              <a:t> deployment. Each stage acts as a quality gate, preventing insecure code from reaching production. The HMS is built as a three-tier system using React, </a:t>
            </a:r>
            <a:r>
              <a:rPr lang="en-US" sz="2200" dirty="0" err="1">
                <a:solidFill>
                  <a:schemeClr val="tx1"/>
                </a:solidFill>
                <a:latin typeface="Times New Roman" panose="02020603050405020304" pitchFamily="18" charset="0"/>
                <a:cs typeface="Times New Roman" panose="02020603050405020304" pitchFamily="18" charset="0"/>
              </a:rPr>
              <a:t>FastAPI</a:t>
            </a:r>
            <a:r>
              <a:rPr lang="en-US" sz="2200" dirty="0">
                <a:solidFill>
                  <a:schemeClr val="tx1"/>
                </a:solidFill>
                <a:latin typeface="Times New Roman" panose="02020603050405020304" pitchFamily="18" charset="0"/>
                <a:cs typeface="Times New Roman" panose="02020603050405020304" pitchFamily="18" charset="0"/>
              </a:rPr>
              <a:t>, and PostgreSQL, supporting multiple roles and healthcare modules. The pipeline executes within minutes, ensuring fast, secure, and reliable deployments. This work demonstrates how </a:t>
            </a:r>
            <a:r>
              <a:rPr lang="en-US" sz="2200" dirty="0" err="1">
                <a:solidFill>
                  <a:schemeClr val="tx1"/>
                </a:solidFill>
                <a:latin typeface="Times New Roman" panose="02020603050405020304" pitchFamily="18" charset="0"/>
                <a:cs typeface="Times New Roman" panose="02020603050405020304" pitchFamily="18" charset="0"/>
              </a:rPr>
              <a:t>DevSecOps</a:t>
            </a:r>
            <a:r>
              <a:rPr lang="en-US" sz="2200" dirty="0">
                <a:solidFill>
                  <a:schemeClr val="tx1"/>
                </a:solidFill>
                <a:latin typeface="Times New Roman" panose="02020603050405020304" pitchFamily="18" charset="0"/>
                <a:cs typeface="Times New Roman" panose="02020603050405020304" pitchFamily="18" charset="0"/>
              </a:rPr>
              <a:t> practices can enhance software quality, reliability, and patient safety in healthcare systems. </a:t>
            </a:r>
            <a:r>
              <a:rPr lang="en-US"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960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032C9-B825-6292-24AD-F1DE8599405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FC3F91-D15D-59C5-FC2F-98F87148BD03}"/>
              </a:ext>
            </a:extLst>
          </p:cNvPr>
          <p:cNvSpPr txBox="1"/>
          <p:nvPr/>
        </p:nvSpPr>
        <p:spPr>
          <a:xfrm>
            <a:off x="2253716" y="1113785"/>
            <a:ext cx="9197066" cy="433965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INTRODUCTION</a:t>
            </a:r>
          </a:p>
          <a:p>
            <a:endParaRPr lang="en-US" sz="2800" b="1"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Hospital Management Systems (HMS) require continuous operation, secure handling of patient data, and reliable updates. Traditional manual deployment methods are slow and prone to errors, making them unsuitable for healthcare environments. CI/CD pipelines automate integration, testing, and deployment, improving speed and consistency. However, insecure pipelines can introduce risks such as deploying vulnerable code. This project proposes a secure, automated CI/CD pipeline with testing, containerization, and vulnerability scanning. Using an HMS case study, it demonstrates improved reliability, reduced errors, and enhanced security. Overall, the approach ensures safe, fast, and stable software delivery for healthcare systems.</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4523520"/>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69FBB6-2211-58A7-20B5-BA76E1C3DF1B}"/>
              </a:ext>
            </a:extLst>
          </p:cNvPr>
          <p:cNvSpPr txBox="1"/>
          <p:nvPr/>
        </p:nvSpPr>
        <p:spPr>
          <a:xfrm>
            <a:off x="2073013" y="1049471"/>
            <a:ext cx="9154619" cy="4370427"/>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PROBLEM</a:t>
            </a:r>
            <a:r>
              <a:rPr lang="en-US" sz="28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STATEMENT</a:t>
            </a:r>
          </a:p>
          <a:p>
            <a:pPr>
              <a:buNone/>
            </a:pPr>
            <a:endParaRPr lang="en-US" sz="2800" b="1"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Modern hospital software systems require continuous updates, high availability, and strong security. While CI/CD pipelines are used to automate development and deployment, many implementations lack complete validation and security checks. Critical steps like security scanning and artifact verification are often skipped or done manually, increasing risks. This can allow unstable or vulnerable software to reach production systems. The output stage (AS3) is especially critical, where unverified artifacts may introduce security threats. Such issues can lead to data breaches, system failures, and disruption of healthcare services. Therefore, a secure, fully automated CI/CD pipeline with mandatory validation at every stage is essential for hospital systems.</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686042"/>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EFC190-E22A-14B7-FECB-C6EE7B1AAD18}"/>
              </a:ext>
            </a:extLst>
          </p:cNvPr>
          <p:cNvSpPr txBox="1"/>
          <p:nvPr/>
        </p:nvSpPr>
        <p:spPr>
          <a:xfrm>
            <a:off x="1140543" y="124986"/>
            <a:ext cx="3162113"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Literature Survey</a:t>
            </a:r>
          </a:p>
        </p:txBody>
      </p:sp>
      <p:graphicFrame>
        <p:nvGraphicFramePr>
          <p:cNvPr id="2" name="Table 1">
            <a:extLst>
              <a:ext uri="{FF2B5EF4-FFF2-40B4-BE49-F238E27FC236}">
                <a16:creationId xmlns:a16="http://schemas.microsoft.com/office/drawing/2014/main" id="{D3775702-5B48-5748-DEB4-0242641EB47E}"/>
              </a:ext>
            </a:extLst>
          </p:cNvPr>
          <p:cNvGraphicFramePr>
            <a:graphicFrameLocks noGrp="1"/>
          </p:cNvGraphicFramePr>
          <p:nvPr>
            <p:extLst>
              <p:ext uri="{D42A27DB-BD31-4B8C-83A1-F6EECF244321}">
                <p14:modId xmlns:p14="http://schemas.microsoft.com/office/powerpoint/2010/main" val="369149620"/>
              </p:ext>
            </p:extLst>
          </p:nvPr>
        </p:nvGraphicFramePr>
        <p:xfrm>
          <a:off x="1140543" y="806246"/>
          <a:ext cx="10804711" cy="5557238"/>
        </p:xfrm>
        <a:graphic>
          <a:graphicData uri="http://schemas.openxmlformats.org/drawingml/2006/table">
            <a:tbl>
              <a:tblPr firstRow="1">
                <a:tableStyleId>{08FB837D-C827-4EFA-A057-4D05807E0F7C}</a:tableStyleId>
              </a:tblPr>
              <a:tblGrid>
                <a:gridCol w="1137831">
                  <a:extLst>
                    <a:ext uri="{9D8B030D-6E8A-4147-A177-3AD203B41FA5}">
                      <a16:colId xmlns:a16="http://schemas.microsoft.com/office/drawing/2014/main" val="2771199084"/>
                    </a:ext>
                  </a:extLst>
                </a:gridCol>
                <a:gridCol w="1831281">
                  <a:extLst>
                    <a:ext uri="{9D8B030D-6E8A-4147-A177-3AD203B41FA5}">
                      <a16:colId xmlns:a16="http://schemas.microsoft.com/office/drawing/2014/main" val="1055415871"/>
                    </a:ext>
                  </a:extLst>
                </a:gridCol>
                <a:gridCol w="3211013">
                  <a:extLst>
                    <a:ext uri="{9D8B030D-6E8A-4147-A177-3AD203B41FA5}">
                      <a16:colId xmlns:a16="http://schemas.microsoft.com/office/drawing/2014/main" val="75814804"/>
                    </a:ext>
                  </a:extLst>
                </a:gridCol>
                <a:gridCol w="2463644">
                  <a:extLst>
                    <a:ext uri="{9D8B030D-6E8A-4147-A177-3AD203B41FA5}">
                      <a16:colId xmlns:a16="http://schemas.microsoft.com/office/drawing/2014/main" val="1015870783"/>
                    </a:ext>
                  </a:extLst>
                </a:gridCol>
                <a:gridCol w="2160942">
                  <a:extLst>
                    <a:ext uri="{9D8B030D-6E8A-4147-A177-3AD203B41FA5}">
                      <a16:colId xmlns:a16="http://schemas.microsoft.com/office/drawing/2014/main" val="3618414183"/>
                    </a:ext>
                  </a:extLst>
                </a:gridCol>
              </a:tblGrid>
              <a:tr h="326914">
                <a:tc>
                  <a:txBody>
                    <a:bodyPr/>
                    <a:lstStyle/>
                    <a:p>
                      <a:pPr algn="ctr">
                        <a:buNone/>
                      </a:pPr>
                      <a:r>
                        <a:rPr lang="en-IN" sz="1200" dirty="0"/>
                        <a:t>Year</a:t>
                      </a:r>
                      <a:endParaRPr lang="en-IN" sz="1200" dirty="0">
                        <a:latin typeface="Times New Roman" panose="02020603050405020304" pitchFamily="18" charset="0"/>
                        <a:cs typeface="Times New Roman" panose="02020603050405020304" pitchFamily="18" charset="0"/>
                      </a:endParaRPr>
                    </a:p>
                  </a:txBody>
                  <a:tcPr marL="11848" marR="11848" marT="5924" marB="59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8712"/>
                    </a:solidFill>
                  </a:tcPr>
                </a:tc>
                <a:tc>
                  <a:txBody>
                    <a:bodyPr/>
                    <a:lstStyle/>
                    <a:p>
                      <a:pPr algn="ctr">
                        <a:buNone/>
                      </a:pPr>
                      <a:r>
                        <a:rPr lang="en-IN" sz="1200" dirty="0"/>
                        <a:t>Author(s)</a:t>
                      </a:r>
                      <a:endParaRPr lang="en-IN" sz="1200" dirty="0">
                        <a:latin typeface="Times New Roman" panose="02020603050405020304" pitchFamily="18" charset="0"/>
                        <a:cs typeface="Times New Roman" panose="02020603050405020304" pitchFamily="18" charset="0"/>
                      </a:endParaRPr>
                    </a:p>
                  </a:txBody>
                  <a:tcPr marL="11848" marR="11848" marT="5924" marB="59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8712"/>
                    </a:solidFill>
                  </a:tcPr>
                </a:tc>
                <a:tc>
                  <a:txBody>
                    <a:bodyPr/>
                    <a:lstStyle/>
                    <a:p>
                      <a:pPr algn="ctr">
                        <a:buNone/>
                      </a:pPr>
                      <a:r>
                        <a:rPr lang="en-IN" sz="1200" dirty="0"/>
                        <a:t>Key Findings</a:t>
                      </a:r>
                      <a:endParaRPr lang="en-IN" sz="1200" dirty="0">
                        <a:latin typeface="Times New Roman" panose="02020603050405020304" pitchFamily="18" charset="0"/>
                        <a:cs typeface="Times New Roman" panose="02020603050405020304" pitchFamily="18" charset="0"/>
                      </a:endParaRPr>
                    </a:p>
                  </a:txBody>
                  <a:tcPr marL="11848" marR="11848" marT="5924" marB="59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8712"/>
                    </a:solidFill>
                  </a:tcPr>
                </a:tc>
                <a:tc>
                  <a:txBody>
                    <a:bodyPr/>
                    <a:lstStyle/>
                    <a:p>
                      <a:pPr algn="ctr">
                        <a:buNone/>
                      </a:pPr>
                      <a:r>
                        <a:rPr lang="en-IN" sz="1200" dirty="0"/>
                        <a:t>Advantages</a:t>
                      </a:r>
                      <a:endParaRPr lang="en-IN" sz="1200" dirty="0">
                        <a:latin typeface="Times New Roman" panose="02020603050405020304" pitchFamily="18" charset="0"/>
                        <a:cs typeface="Times New Roman" panose="02020603050405020304" pitchFamily="18" charset="0"/>
                      </a:endParaRPr>
                    </a:p>
                  </a:txBody>
                  <a:tcPr marL="11848" marR="11848" marT="5924" marB="59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8712"/>
                    </a:solidFill>
                  </a:tcPr>
                </a:tc>
                <a:tc>
                  <a:txBody>
                    <a:bodyPr/>
                    <a:lstStyle/>
                    <a:p>
                      <a:pPr algn="ctr">
                        <a:buNone/>
                      </a:pPr>
                      <a:r>
                        <a:rPr lang="en-IN" sz="1200" dirty="0"/>
                        <a:t>Limitations</a:t>
                      </a:r>
                      <a:endParaRPr lang="en-IN" sz="1200" dirty="0">
                        <a:latin typeface="Times New Roman" panose="02020603050405020304" pitchFamily="18" charset="0"/>
                        <a:cs typeface="Times New Roman" panose="02020603050405020304" pitchFamily="18" charset="0"/>
                      </a:endParaRPr>
                    </a:p>
                  </a:txBody>
                  <a:tcPr marL="11848" marR="11848" marT="5924" marB="59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8712"/>
                    </a:solidFill>
                  </a:tcPr>
                </a:tc>
                <a:extLst>
                  <a:ext uri="{0D108BD9-81ED-4DB2-BD59-A6C34878D82A}">
                    <a16:rowId xmlns:a16="http://schemas.microsoft.com/office/drawing/2014/main" val="1263865654"/>
                  </a:ext>
                </a:extLst>
              </a:tr>
              <a:tr h="833134">
                <a:tc>
                  <a:txBody>
                    <a:bodyPr/>
                    <a:lstStyle/>
                    <a:p>
                      <a:pPr algn="ctr">
                        <a:buNone/>
                      </a:pPr>
                      <a:r>
                        <a:rPr lang="en-IN" sz="1200" dirty="0">
                          <a:latin typeface="Aptos" panose="020B0004020202020204" pitchFamily="34" charset="0"/>
                          <a:cs typeface="Times New Roman" panose="02020603050405020304" pitchFamily="18" charset="0"/>
                        </a:rPr>
                        <a:t>2024</a:t>
                      </a:r>
                    </a:p>
                  </a:txBody>
                  <a:tcPr marL="11848" marR="11848" marT="5924" marB="5924" anchor="ctr">
                    <a:lnT w="12700" cap="flat" cmpd="sng" algn="ctr">
                      <a:solidFill>
                        <a:schemeClr val="tx1"/>
                      </a:solidFill>
                      <a:prstDash val="solid"/>
                      <a:round/>
                      <a:headEnd type="none" w="med" len="med"/>
                      <a:tailEnd type="none" w="med" len="med"/>
                    </a:lnT>
                    <a:solidFill>
                      <a:srgbClr val="EDEEEC"/>
                    </a:solidFill>
                  </a:tcPr>
                </a:tc>
                <a:tc>
                  <a:txBody>
                    <a:bodyPr/>
                    <a:lstStyle/>
                    <a:p>
                      <a:pPr algn="ctr">
                        <a:buNone/>
                      </a:pPr>
                      <a:r>
                        <a:rPr lang="en-IN" sz="1200" dirty="0">
                          <a:latin typeface="Aptos" panose="020B0004020202020204" pitchFamily="34" charset="0"/>
                          <a:cs typeface="Times New Roman" panose="02020603050405020304" pitchFamily="18" charset="0"/>
                        </a:rPr>
                        <a:t>Pan et al.</a:t>
                      </a:r>
                    </a:p>
                  </a:txBody>
                  <a:tcPr marL="11848" marR="11848" marT="5924" marB="5924" anchor="ctr">
                    <a:lnT w="12700" cap="flat" cmpd="sng" algn="ctr">
                      <a:solidFill>
                        <a:schemeClr val="tx1"/>
                      </a:solidFill>
                      <a:prstDash val="solid"/>
                      <a:round/>
                      <a:headEnd type="none" w="med" len="med"/>
                      <a:tailEnd type="none" w="med" len="med"/>
                    </a:lnT>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Identified three CI/CD attack surfaces (AS1, AS2, AS3); 97.86% repos use outdated scripts; 11.04 months update lag</a:t>
                      </a:r>
                    </a:p>
                  </a:txBody>
                  <a:tcPr marL="11848" marR="11848" marT="5924" marB="5924" anchor="ctr">
                    <a:lnT w="12700" cap="flat" cmpd="sng" algn="ctr">
                      <a:solidFill>
                        <a:schemeClr val="tx1"/>
                      </a:solidFill>
                      <a:prstDash val="solid"/>
                      <a:round/>
                      <a:headEnd type="none" w="med" len="med"/>
                      <a:tailEnd type="none" w="med" len="med"/>
                    </a:lnT>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Large-scale empirical study (320k repos); clearly defines CI/CD attack model</a:t>
                      </a:r>
                    </a:p>
                  </a:txBody>
                  <a:tcPr marL="11848" marR="11848" marT="5924" marB="5924" anchor="ctr">
                    <a:lnT w="12700" cap="flat" cmpd="sng" algn="ctr">
                      <a:solidFill>
                        <a:schemeClr val="tx1"/>
                      </a:solidFill>
                      <a:prstDash val="solid"/>
                      <a:round/>
                      <a:headEnd type="none" w="med" len="med"/>
                      <a:tailEnd type="none" w="med" len="med"/>
                    </a:lnT>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Focuses on vulnerability identification; does not provide lightweight practical implementation</a:t>
                      </a:r>
                    </a:p>
                  </a:txBody>
                  <a:tcPr marL="11848" marR="11848" marT="5924" marB="5924" anchor="ctr">
                    <a:lnT w="12700" cap="flat" cmpd="sng" algn="ctr">
                      <a:solidFill>
                        <a:schemeClr val="tx1"/>
                      </a:solidFill>
                      <a:prstDash val="solid"/>
                      <a:round/>
                      <a:headEnd type="none" w="med" len="med"/>
                      <a:tailEnd type="none" w="med" len="med"/>
                    </a:lnT>
                    <a:solidFill>
                      <a:srgbClr val="EDEEEC"/>
                    </a:solidFill>
                  </a:tcPr>
                </a:tc>
                <a:extLst>
                  <a:ext uri="{0D108BD9-81ED-4DB2-BD59-A6C34878D82A}">
                    <a16:rowId xmlns:a16="http://schemas.microsoft.com/office/drawing/2014/main" val="1413066699"/>
                  </a:ext>
                </a:extLst>
              </a:tr>
              <a:tr h="833134">
                <a:tc>
                  <a:txBody>
                    <a:bodyPr/>
                    <a:lstStyle/>
                    <a:p>
                      <a:pPr algn="ctr">
                        <a:buNone/>
                      </a:pPr>
                      <a:r>
                        <a:rPr lang="en-IN" sz="1200" dirty="0">
                          <a:latin typeface="Aptos" panose="020B0004020202020204" pitchFamily="34" charset="0"/>
                          <a:cs typeface="Times New Roman" panose="02020603050405020304" pitchFamily="18" charset="0"/>
                        </a:rPr>
                        <a:t>2025</a:t>
                      </a:r>
                    </a:p>
                  </a:txBody>
                  <a:tcPr marL="11848" marR="11848" marT="5924" marB="5924" anchor="ctr">
                    <a:solidFill>
                      <a:srgbClr val="EDEEEC"/>
                    </a:solidFill>
                  </a:tcPr>
                </a:tc>
                <a:tc>
                  <a:txBody>
                    <a:bodyPr/>
                    <a:lstStyle/>
                    <a:p>
                      <a:pPr algn="ctr">
                        <a:buNone/>
                      </a:pPr>
                      <a:r>
                        <a:rPr lang="en-IN" sz="1200" dirty="0" err="1">
                          <a:latin typeface="Aptos" panose="020B0004020202020204" pitchFamily="34" charset="0"/>
                          <a:cs typeface="Times New Roman" panose="02020603050405020304" pitchFamily="18" charset="0"/>
                        </a:rPr>
                        <a:t>Ashtagi</a:t>
                      </a:r>
                      <a:r>
                        <a:rPr lang="en-IN" sz="1200" dirty="0">
                          <a:latin typeface="Aptos" panose="020B0004020202020204" pitchFamily="34" charset="0"/>
                          <a:cs typeface="Times New Roman" panose="02020603050405020304" pitchFamily="18" charset="0"/>
                        </a:rPr>
                        <a:t> et al.</a:t>
                      </a:r>
                    </a:p>
                  </a:txBody>
                  <a:tcPr marL="11848" marR="11848" marT="5924" marB="5924" anchor="ctr">
                    <a:solidFill>
                      <a:srgbClr val="EDEEEC"/>
                    </a:solidFill>
                  </a:tcPr>
                </a:tc>
                <a:tc>
                  <a:txBody>
                    <a:bodyPr/>
                    <a:lstStyle/>
                    <a:p>
                      <a:pPr algn="ctr">
                        <a:buNone/>
                      </a:pPr>
                      <a:r>
                        <a:rPr lang="en-US" sz="1200" dirty="0" err="1">
                          <a:latin typeface="Aptos" panose="020B0004020202020204" pitchFamily="34" charset="0"/>
                          <a:cs typeface="Times New Roman" panose="02020603050405020304" pitchFamily="18" charset="0"/>
                        </a:rPr>
                        <a:t>DevSecOps</a:t>
                      </a:r>
                      <a:r>
                        <a:rPr lang="en-US" sz="1200" dirty="0">
                          <a:latin typeface="Aptos" panose="020B0004020202020204" pitchFamily="34" charset="0"/>
                          <a:cs typeface="Times New Roman" panose="02020603050405020304" pitchFamily="18" charset="0"/>
                        </a:rPr>
                        <a:t> framework integrating OWASP &amp; </a:t>
                      </a:r>
                      <a:r>
                        <a:rPr lang="en-US" sz="1200" dirty="0" err="1">
                          <a:latin typeface="Aptos" panose="020B0004020202020204" pitchFamily="34" charset="0"/>
                          <a:cs typeface="Times New Roman" panose="02020603050405020304" pitchFamily="18" charset="0"/>
                        </a:rPr>
                        <a:t>Trivy</a:t>
                      </a:r>
                      <a:r>
                        <a:rPr lang="en-US" sz="1200" dirty="0">
                          <a:latin typeface="Aptos" panose="020B0004020202020204" pitchFamily="34" charset="0"/>
                          <a:cs typeface="Times New Roman" panose="02020603050405020304" pitchFamily="18" charset="0"/>
                        </a:rPr>
                        <a:t>; reduced vulnerabilities by 70%</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Demonstrates effective automated security integration; cloud-native architecture</a:t>
                      </a:r>
                    </a:p>
                  </a:txBody>
                  <a:tcPr marL="11848" marR="11848" marT="5924" marB="5924" anchor="ctr">
                    <a:solidFill>
                      <a:srgbClr val="EDEEEC"/>
                    </a:solidFill>
                  </a:tcPr>
                </a:tc>
                <a:tc>
                  <a:txBody>
                    <a:bodyPr/>
                    <a:lstStyle/>
                    <a:p>
                      <a:pPr algn="ctr">
                        <a:buNone/>
                      </a:pPr>
                      <a:r>
                        <a:rPr lang="en-IN" sz="1200">
                          <a:latin typeface="Aptos" panose="020B0004020202020204" pitchFamily="34" charset="0"/>
                          <a:cs typeface="Times New Roman" panose="02020603050405020304" pitchFamily="18" charset="0"/>
                        </a:rPr>
                        <a:t>Requires complex infrastructure (Kubernetes, Terraform); enterprise-level setup</a:t>
                      </a:r>
                    </a:p>
                  </a:txBody>
                  <a:tcPr marL="11848" marR="11848" marT="5924" marB="5924" anchor="ctr">
                    <a:solidFill>
                      <a:srgbClr val="EDEEEC"/>
                    </a:solidFill>
                  </a:tcPr>
                </a:tc>
                <a:extLst>
                  <a:ext uri="{0D108BD9-81ED-4DB2-BD59-A6C34878D82A}">
                    <a16:rowId xmlns:a16="http://schemas.microsoft.com/office/drawing/2014/main" val="4220575697"/>
                  </a:ext>
                </a:extLst>
              </a:tr>
              <a:tr h="628170">
                <a:tc>
                  <a:txBody>
                    <a:bodyPr/>
                    <a:lstStyle/>
                    <a:p>
                      <a:pPr algn="ctr">
                        <a:buNone/>
                      </a:pPr>
                      <a:r>
                        <a:rPr lang="en-IN" sz="1200" dirty="0">
                          <a:latin typeface="Aptos" panose="020B0004020202020204" pitchFamily="34" charset="0"/>
                          <a:cs typeface="Times New Roman" panose="02020603050405020304" pitchFamily="18" charset="0"/>
                        </a:rPr>
                        <a:t>2017</a:t>
                      </a:r>
                    </a:p>
                  </a:txBody>
                  <a:tcPr marL="11848" marR="11848" marT="5924" marB="5924" anchor="ctr">
                    <a:solidFill>
                      <a:srgbClr val="EDEEEC"/>
                    </a:solidFill>
                  </a:tcPr>
                </a:tc>
                <a:tc>
                  <a:txBody>
                    <a:bodyPr/>
                    <a:lstStyle/>
                    <a:p>
                      <a:pPr algn="ctr">
                        <a:buNone/>
                      </a:pPr>
                      <a:r>
                        <a:rPr lang="en-IN" sz="1200" dirty="0">
                          <a:latin typeface="Aptos" panose="020B0004020202020204" pitchFamily="34" charset="0"/>
                          <a:cs typeface="Times New Roman" panose="02020603050405020304" pitchFamily="18" charset="0"/>
                        </a:rPr>
                        <a:t>Shahin et al.</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Systematic review of CI/CD practices; automation improves quality &amp; reduces time-to-market</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Comprehensive academic foundation; tool classification</a:t>
                      </a:r>
                    </a:p>
                  </a:txBody>
                  <a:tcPr marL="11848" marR="11848" marT="5924" marB="5924" anchor="ctr">
                    <a:solidFill>
                      <a:srgbClr val="EDEEEC"/>
                    </a:solidFill>
                  </a:tcPr>
                </a:tc>
                <a:tc>
                  <a:txBody>
                    <a:bodyPr/>
                    <a:lstStyle/>
                    <a:p>
                      <a:pPr algn="ctr">
                        <a:buNone/>
                      </a:pPr>
                      <a:r>
                        <a:rPr lang="en-US" sz="1200">
                          <a:latin typeface="Aptos" panose="020B0004020202020204" pitchFamily="34" charset="0"/>
                          <a:cs typeface="Times New Roman" panose="02020603050405020304" pitchFamily="18" charset="0"/>
                        </a:rPr>
                        <a:t>Older study; limited focus on modern container security</a:t>
                      </a:r>
                    </a:p>
                  </a:txBody>
                  <a:tcPr marL="11848" marR="11848" marT="5924" marB="5924" anchor="ctr">
                    <a:solidFill>
                      <a:srgbClr val="EDEEEC"/>
                    </a:solidFill>
                  </a:tcPr>
                </a:tc>
                <a:extLst>
                  <a:ext uri="{0D108BD9-81ED-4DB2-BD59-A6C34878D82A}">
                    <a16:rowId xmlns:a16="http://schemas.microsoft.com/office/drawing/2014/main" val="2912693553"/>
                  </a:ext>
                </a:extLst>
              </a:tr>
              <a:tr h="628170">
                <a:tc>
                  <a:txBody>
                    <a:bodyPr/>
                    <a:lstStyle/>
                    <a:p>
                      <a:pPr algn="ctr">
                        <a:buNone/>
                      </a:pPr>
                      <a:r>
                        <a:rPr lang="en-IN" sz="1200" dirty="0">
                          <a:latin typeface="Aptos" panose="020B0004020202020204" pitchFamily="34" charset="0"/>
                          <a:cs typeface="Times New Roman" panose="02020603050405020304" pitchFamily="18" charset="0"/>
                        </a:rPr>
                        <a:t>2022</a:t>
                      </a:r>
                    </a:p>
                  </a:txBody>
                  <a:tcPr marL="11848" marR="11848" marT="5924" marB="5924" anchor="ctr">
                    <a:solidFill>
                      <a:srgbClr val="EDEEEC"/>
                    </a:solidFill>
                  </a:tcPr>
                </a:tc>
                <a:tc>
                  <a:txBody>
                    <a:bodyPr/>
                    <a:lstStyle/>
                    <a:p>
                      <a:pPr algn="ctr">
                        <a:buNone/>
                      </a:pPr>
                      <a:r>
                        <a:rPr lang="en-IN" sz="1200" dirty="0">
                          <a:latin typeface="Aptos" panose="020B0004020202020204" pitchFamily="34" charset="0"/>
                          <a:cs typeface="Times New Roman" panose="02020603050405020304" pitchFamily="18" charset="0"/>
                        </a:rPr>
                        <a:t>Mowad et al.</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CI/CD reduces Dev-Ops gap; improves lifecycle ownership</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Shows operational efficiency &amp; reduced integration issues</a:t>
                      </a:r>
                    </a:p>
                  </a:txBody>
                  <a:tcPr marL="11848" marR="11848" marT="5924" marB="5924" anchor="ctr">
                    <a:solidFill>
                      <a:srgbClr val="EDEEEC"/>
                    </a:solidFill>
                  </a:tcPr>
                </a:tc>
                <a:tc>
                  <a:txBody>
                    <a:bodyPr/>
                    <a:lstStyle/>
                    <a:p>
                      <a:pPr algn="ctr">
                        <a:buNone/>
                      </a:pPr>
                      <a:r>
                        <a:rPr lang="en-US" sz="1200">
                          <a:latin typeface="Aptos" panose="020B0004020202020204" pitchFamily="34" charset="0"/>
                          <a:cs typeface="Times New Roman" panose="02020603050405020304" pitchFamily="18" charset="0"/>
                        </a:rPr>
                        <a:t>Less focus on security enforcement and artifact validation</a:t>
                      </a:r>
                    </a:p>
                  </a:txBody>
                  <a:tcPr marL="11848" marR="11848" marT="5924" marB="5924" anchor="ctr">
                    <a:solidFill>
                      <a:srgbClr val="EDEEEC"/>
                    </a:solidFill>
                  </a:tcPr>
                </a:tc>
                <a:extLst>
                  <a:ext uri="{0D108BD9-81ED-4DB2-BD59-A6C34878D82A}">
                    <a16:rowId xmlns:a16="http://schemas.microsoft.com/office/drawing/2014/main" val="2023995642"/>
                  </a:ext>
                </a:extLst>
              </a:tr>
              <a:tr h="628170">
                <a:tc>
                  <a:txBody>
                    <a:bodyPr/>
                    <a:lstStyle/>
                    <a:p>
                      <a:pPr algn="ctr">
                        <a:buNone/>
                      </a:pPr>
                      <a:r>
                        <a:rPr lang="en-IN" sz="1200">
                          <a:latin typeface="Aptos" panose="020B0004020202020204" pitchFamily="34" charset="0"/>
                          <a:cs typeface="Times New Roman" panose="02020603050405020304" pitchFamily="18" charset="0"/>
                        </a:rPr>
                        <a:t>2024</a:t>
                      </a:r>
                    </a:p>
                  </a:txBody>
                  <a:tcPr marL="11848" marR="11848" marT="5924" marB="5924" anchor="ctr">
                    <a:solidFill>
                      <a:srgbClr val="EDEEEC"/>
                    </a:solidFill>
                  </a:tcPr>
                </a:tc>
                <a:tc>
                  <a:txBody>
                    <a:bodyPr/>
                    <a:lstStyle/>
                    <a:p>
                      <a:pPr algn="ctr">
                        <a:buNone/>
                      </a:pPr>
                      <a:r>
                        <a:rPr lang="en-IN" sz="1200" dirty="0">
                          <a:latin typeface="Aptos" panose="020B0004020202020204" pitchFamily="34" charset="0"/>
                          <a:cs typeface="Times New Roman" panose="02020603050405020304" pitchFamily="18" charset="0"/>
                        </a:rPr>
                        <a:t>Faqih et al.</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GitHub Actions workflows emphasize build &amp; test automation</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Industry-aligned empirical data; supports GitHub-based pipelines</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Focuses on usage trends; limited security-depth analysis</a:t>
                      </a:r>
                    </a:p>
                  </a:txBody>
                  <a:tcPr marL="11848" marR="11848" marT="5924" marB="5924" anchor="ctr">
                    <a:solidFill>
                      <a:srgbClr val="EDEEEC"/>
                    </a:solidFill>
                  </a:tcPr>
                </a:tc>
                <a:extLst>
                  <a:ext uri="{0D108BD9-81ED-4DB2-BD59-A6C34878D82A}">
                    <a16:rowId xmlns:a16="http://schemas.microsoft.com/office/drawing/2014/main" val="2257813617"/>
                  </a:ext>
                </a:extLst>
              </a:tr>
              <a:tr h="628170">
                <a:tc>
                  <a:txBody>
                    <a:bodyPr/>
                    <a:lstStyle/>
                    <a:p>
                      <a:pPr algn="ctr">
                        <a:buNone/>
                      </a:pPr>
                      <a:r>
                        <a:rPr lang="en-IN" sz="1200" dirty="0">
                          <a:latin typeface="Aptos" panose="020B0004020202020204" pitchFamily="34" charset="0"/>
                          <a:cs typeface="Times New Roman" panose="02020603050405020304" pitchFamily="18" charset="0"/>
                        </a:rPr>
                        <a:t>2025</a:t>
                      </a:r>
                    </a:p>
                  </a:txBody>
                  <a:tcPr marL="11848" marR="11848" marT="5924" marB="5924" anchor="ctr">
                    <a:solidFill>
                      <a:srgbClr val="EDEEEC"/>
                    </a:solidFill>
                  </a:tcPr>
                </a:tc>
                <a:tc>
                  <a:txBody>
                    <a:bodyPr/>
                    <a:lstStyle/>
                    <a:p>
                      <a:pPr algn="ctr">
                        <a:buNone/>
                      </a:pPr>
                      <a:r>
                        <a:rPr lang="en-IN" sz="1200" dirty="0" err="1">
                          <a:latin typeface="Aptos" panose="020B0004020202020204" pitchFamily="34" charset="0"/>
                          <a:cs typeface="Times New Roman" panose="02020603050405020304" pitchFamily="18" charset="0"/>
                        </a:rPr>
                        <a:t>Gusmedi</a:t>
                      </a:r>
                      <a:r>
                        <a:rPr lang="en-IN" sz="1200" dirty="0">
                          <a:latin typeface="Aptos" panose="020B0004020202020204" pitchFamily="34" charset="0"/>
                          <a:cs typeface="Times New Roman" panose="02020603050405020304" pitchFamily="18" charset="0"/>
                        </a:rPr>
                        <a:t> et al.</a:t>
                      </a:r>
                    </a:p>
                  </a:txBody>
                  <a:tcPr marL="11848" marR="11848" marT="5924" marB="5924" anchor="ctr">
                    <a:solidFill>
                      <a:srgbClr val="EDEEEC"/>
                    </a:solidFill>
                  </a:tcPr>
                </a:tc>
                <a:tc>
                  <a:txBody>
                    <a:bodyPr/>
                    <a:lstStyle/>
                    <a:p>
                      <a:pPr algn="ctr">
                        <a:buNone/>
                      </a:pPr>
                      <a:r>
                        <a:rPr lang="en-US" sz="1200">
                          <a:latin typeface="Aptos" panose="020B0004020202020204" pitchFamily="34" charset="0"/>
                          <a:cs typeface="Times New Roman" panose="02020603050405020304" pitchFamily="18" charset="0"/>
                        </a:rPr>
                        <a:t>DevOps with auto-scaling &amp; load balancing improves hospital system reliability</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Healthcare-specific case study; reliability enhancement</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Focus more on infrastructure scaling than CI/CD security</a:t>
                      </a:r>
                    </a:p>
                  </a:txBody>
                  <a:tcPr marL="11848" marR="11848" marT="5924" marB="5924" anchor="ctr">
                    <a:solidFill>
                      <a:srgbClr val="EDEEEC"/>
                    </a:solidFill>
                  </a:tcPr>
                </a:tc>
                <a:extLst>
                  <a:ext uri="{0D108BD9-81ED-4DB2-BD59-A6C34878D82A}">
                    <a16:rowId xmlns:a16="http://schemas.microsoft.com/office/drawing/2014/main" val="3872101108"/>
                  </a:ext>
                </a:extLst>
              </a:tr>
              <a:tr h="628170">
                <a:tc>
                  <a:txBody>
                    <a:bodyPr/>
                    <a:lstStyle/>
                    <a:p>
                      <a:pPr algn="ctr">
                        <a:buNone/>
                      </a:pPr>
                      <a:r>
                        <a:rPr lang="en-IN" sz="1200" dirty="0">
                          <a:latin typeface="Aptos" panose="020B0004020202020204" pitchFamily="34" charset="0"/>
                          <a:cs typeface="Times New Roman" panose="02020603050405020304" pitchFamily="18" charset="0"/>
                        </a:rPr>
                        <a:t>2025</a:t>
                      </a:r>
                    </a:p>
                  </a:txBody>
                  <a:tcPr marL="11848" marR="11848" marT="5924" marB="5924" anchor="ctr">
                    <a:solidFill>
                      <a:srgbClr val="EDEEEC"/>
                    </a:solidFill>
                  </a:tcPr>
                </a:tc>
                <a:tc>
                  <a:txBody>
                    <a:bodyPr/>
                    <a:lstStyle/>
                    <a:p>
                      <a:pPr algn="ctr">
                        <a:buNone/>
                      </a:pPr>
                      <a:r>
                        <a:rPr lang="en-IN" sz="1200" dirty="0">
                          <a:latin typeface="Aptos" panose="020B0004020202020204" pitchFamily="34" charset="0"/>
                          <a:cs typeface="Times New Roman" panose="02020603050405020304" pitchFamily="18" charset="0"/>
                        </a:rPr>
                        <a:t>Mohammed et al.</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Shift-Left security essential in </a:t>
                      </a:r>
                      <a:r>
                        <a:rPr lang="en-US" sz="1200" dirty="0" err="1">
                          <a:latin typeface="Aptos" panose="020B0004020202020204" pitchFamily="34" charset="0"/>
                          <a:cs typeface="Times New Roman" panose="02020603050405020304" pitchFamily="18" charset="0"/>
                        </a:rPr>
                        <a:t>DevSecOps</a:t>
                      </a:r>
                      <a:r>
                        <a:rPr lang="en-US" sz="1200" dirty="0">
                          <a:latin typeface="Aptos" panose="020B0004020202020204" pitchFamily="34" charset="0"/>
                          <a:cs typeface="Times New Roman" panose="02020603050405020304" pitchFamily="18" charset="0"/>
                        </a:rPr>
                        <a:t>; integrate security early</a:t>
                      </a:r>
                    </a:p>
                  </a:txBody>
                  <a:tcPr marL="11848" marR="11848" marT="5924" marB="5924" anchor="ctr">
                    <a:solidFill>
                      <a:srgbClr val="EDEEEC"/>
                    </a:solidFill>
                  </a:tcPr>
                </a:tc>
                <a:tc>
                  <a:txBody>
                    <a:bodyPr/>
                    <a:lstStyle/>
                    <a:p>
                      <a:pPr algn="ctr">
                        <a:buNone/>
                      </a:pPr>
                      <a:r>
                        <a:rPr lang="en-US" sz="1200">
                          <a:latin typeface="Aptos" panose="020B0004020202020204" pitchFamily="34" charset="0"/>
                          <a:cs typeface="Times New Roman" panose="02020603050405020304" pitchFamily="18" charset="0"/>
                        </a:rPr>
                        <a:t>Strong academic support for automated security gates</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Conceptual review; lacks beginner-level implementation case</a:t>
                      </a:r>
                    </a:p>
                  </a:txBody>
                  <a:tcPr marL="11848" marR="11848" marT="5924" marB="5924" anchor="ctr">
                    <a:solidFill>
                      <a:srgbClr val="EDEEEC"/>
                    </a:solidFill>
                  </a:tcPr>
                </a:tc>
                <a:extLst>
                  <a:ext uri="{0D108BD9-81ED-4DB2-BD59-A6C34878D82A}">
                    <a16:rowId xmlns:a16="http://schemas.microsoft.com/office/drawing/2014/main" val="2977256061"/>
                  </a:ext>
                </a:extLst>
              </a:tr>
              <a:tr h="423206">
                <a:tc>
                  <a:txBody>
                    <a:bodyPr/>
                    <a:lstStyle/>
                    <a:p>
                      <a:pPr algn="ctr">
                        <a:buNone/>
                      </a:pPr>
                      <a:r>
                        <a:rPr lang="en-IN" sz="1200" dirty="0">
                          <a:latin typeface="Aptos" panose="020B0004020202020204" pitchFamily="34" charset="0"/>
                          <a:cs typeface="Times New Roman" panose="02020603050405020304" pitchFamily="18" charset="0"/>
                        </a:rPr>
                        <a:t>2025</a:t>
                      </a:r>
                    </a:p>
                  </a:txBody>
                  <a:tcPr marL="11848" marR="11848" marT="5924" marB="5924" anchor="ctr">
                    <a:solidFill>
                      <a:srgbClr val="EDEEEC"/>
                    </a:solidFill>
                  </a:tcPr>
                </a:tc>
                <a:tc>
                  <a:txBody>
                    <a:bodyPr/>
                    <a:lstStyle/>
                    <a:p>
                      <a:pPr algn="ctr">
                        <a:buNone/>
                      </a:pPr>
                      <a:r>
                        <a:rPr lang="en-IN" sz="1200" dirty="0">
                          <a:latin typeface="Aptos" panose="020B0004020202020204" pitchFamily="34" charset="0"/>
                          <a:cs typeface="Times New Roman" panose="02020603050405020304" pitchFamily="18" charset="0"/>
                        </a:rPr>
                        <a:t>Williams et al.</a:t>
                      </a:r>
                    </a:p>
                  </a:txBody>
                  <a:tcPr marL="11848" marR="11848" marT="5924" marB="5924" anchor="ctr">
                    <a:solidFill>
                      <a:srgbClr val="EDEEEC"/>
                    </a:solidFill>
                  </a:tcPr>
                </a:tc>
                <a:tc>
                  <a:txBody>
                    <a:bodyPr/>
                    <a:lstStyle/>
                    <a:p>
                      <a:pPr algn="ctr">
                        <a:buNone/>
                      </a:pPr>
                      <a:r>
                        <a:rPr lang="en-US" sz="1200">
                          <a:latin typeface="Aptos" panose="020B0004020202020204" pitchFamily="34" charset="0"/>
                          <a:cs typeface="Times New Roman" panose="02020603050405020304" pitchFamily="18" charset="0"/>
                        </a:rPr>
                        <a:t>Compared 9 GitHub security scanners; identified workflow misconfigurations</a:t>
                      </a:r>
                    </a:p>
                  </a:txBody>
                  <a:tcPr marL="11848" marR="11848" marT="5924" marB="5924" anchor="ctr">
                    <a:solidFill>
                      <a:srgbClr val="EDEEEC"/>
                    </a:solidFill>
                  </a:tcPr>
                </a:tc>
                <a:tc>
                  <a:txBody>
                    <a:bodyPr/>
                    <a:lstStyle/>
                    <a:p>
                      <a:pPr algn="ctr">
                        <a:buNone/>
                      </a:pPr>
                      <a:r>
                        <a:rPr lang="en-IN" sz="1200">
                          <a:latin typeface="Aptos" panose="020B0004020202020204" pitchFamily="34" charset="0"/>
                          <a:cs typeface="Times New Roman" panose="02020603050405020304" pitchFamily="18" charset="0"/>
                        </a:rPr>
                        <a:t>Practical scanner comparison; supply chain protection focus</a:t>
                      </a:r>
                    </a:p>
                  </a:txBody>
                  <a:tcPr marL="11848" marR="11848" marT="5924" marB="5924" anchor="ctr">
                    <a:solidFill>
                      <a:srgbClr val="EDEEEC"/>
                    </a:solidFill>
                  </a:tcPr>
                </a:tc>
                <a:tc>
                  <a:txBody>
                    <a:bodyPr/>
                    <a:lstStyle/>
                    <a:p>
                      <a:pPr algn="ctr">
                        <a:buNone/>
                      </a:pPr>
                      <a:r>
                        <a:rPr lang="en-US" sz="1200" dirty="0">
                          <a:latin typeface="Aptos" panose="020B0004020202020204" pitchFamily="34" charset="0"/>
                          <a:cs typeface="Times New Roman" panose="02020603050405020304" pitchFamily="18" charset="0"/>
                        </a:rPr>
                        <a:t>Detection varies; no single tool covers all issues</a:t>
                      </a:r>
                    </a:p>
                  </a:txBody>
                  <a:tcPr marL="11848" marR="11848" marT="5924" marB="5924" anchor="ctr">
                    <a:solidFill>
                      <a:srgbClr val="EDEEEC"/>
                    </a:solidFill>
                  </a:tcPr>
                </a:tc>
                <a:extLst>
                  <a:ext uri="{0D108BD9-81ED-4DB2-BD59-A6C34878D82A}">
                    <a16:rowId xmlns:a16="http://schemas.microsoft.com/office/drawing/2014/main" val="3796271964"/>
                  </a:ext>
                </a:extLst>
              </a:tr>
            </a:tbl>
          </a:graphicData>
        </a:graphic>
      </p:graphicFrame>
    </p:spTree>
    <p:extLst>
      <p:ext uri="{BB962C8B-B14F-4D97-AF65-F5344CB8AC3E}">
        <p14:creationId xmlns:p14="http://schemas.microsoft.com/office/powerpoint/2010/main" val="3876741423"/>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F8FD4A-053F-132A-1C3C-D1E2B06DDCD8}"/>
              </a:ext>
            </a:extLst>
          </p:cNvPr>
          <p:cNvSpPr txBox="1"/>
          <p:nvPr/>
        </p:nvSpPr>
        <p:spPr>
          <a:xfrm>
            <a:off x="2121108" y="1023206"/>
            <a:ext cx="9260174" cy="4001095"/>
          </a:xfrm>
          <a:prstGeom prst="rect">
            <a:avLst/>
          </a:prstGeom>
          <a:noFill/>
        </p:spPr>
        <p:txBody>
          <a:bodyPr wrap="square">
            <a:spAutoFit/>
          </a:bodyPr>
          <a:lstStyle/>
          <a:p>
            <a:pPr>
              <a:buNone/>
            </a:pPr>
            <a:r>
              <a:rPr lang="en-IN" sz="2800" b="1" dirty="0">
                <a:latin typeface="Times New Roman" panose="02020603050405020304" pitchFamily="18" charset="0"/>
                <a:cs typeface="Times New Roman" panose="02020603050405020304" pitchFamily="18" charset="0"/>
              </a:rPr>
              <a:t>Objectives of the Project</a:t>
            </a:r>
          </a:p>
          <a:p>
            <a:pPr>
              <a:buNone/>
            </a:pPr>
            <a:endParaRPr lang="en-IN" sz="2800" b="1" dirty="0">
              <a:latin typeface="Times New Roman" panose="02020603050405020304" pitchFamily="18" charset="0"/>
              <a:cs typeface="Times New Roman" panose="02020603050405020304" pitchFamily="18" charset="0"/>
            </a:endParaRPr>
          </a:p>
          <a:p>
            <a:pPr algn="just">
              <a:buNone/>
            </a:pPr>
            <a:r>
              <a:rPr lang="en-US" sz="2200" dirty="0">
                <a:latin typeface="Times New Roman" panose="02020603050405020304" pitchFamily="18" charset="0"/>
                <a:cs typeface="Times New Roman" panose="02020603050405020304" pitchFamily="18" charset="0"/>
              </a:rPr>
              <a:t>	The main objective of this project is to design a secure and automated CI/CD pipeline for hospital software systems to ensure reliable and safe deployments. It aims to automate key stages such as code integration, testing, containerization, and deployment. Docker is used to maintain consistency across environments. The project integrates vulnerability scanning to detect and block insecure components. A security gate at the output stage (AS3) prevents deployment of unsafe artifacts. It also includes monitoring and logging for better control and tracking. The approach is validated using a real Hospital Management System case study.</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515407"/>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4A2B5E-17EA-55FA-FDCD-A556135CEB30}"/>
              </a:ext>
            </a:extLst>
          </p:cNvPr>
          <p:cNvSpPr>
            <a:spLocks noGrp="1"/>
          </p:cNvSpPr>
          <p:nvPr>
            <p:ph idx="1"/>
          </p:nvPr>
        </p:nvSpPr>
        <p:spPr>
          <a:xfrm>
            <a:off x="2391785" y="928253"/>
            <a:ext cx="8915400" cy="5077691"/>
          </a:xfrm>
        </p:spPr>
        <p:txBody>
          <a:bodyPr>
            <a:noAutofit/>
          </a:bodyPr>
          <a:lstStyle/>
          <a:p>
            <a:pPr algn="just">
              <a:buClr>
                <a:schemeClr val="tx1"/>
              </a:buCl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To automate the key stages of the software development life cycle including code integration, automated testing, containerization, and deployment, eliminating manual intervention. </a:t>
            </a:r>
          </a:p>
          <a:p>
            <a:pPr algn="just">
              <a:buClr>
                <a:schemeClr val="tx1"/>
              </a:buCl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To use Docker containerization so that the hospital application runs identically across development, testing, and production environments.</a:t>
            </a:r>
          </a:p>
          <a:p>
            <a:pPr algn="just">
              <a:buClr>
                <a:schemeClr val="tx1"/>
              </a:buCl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To integrate automated vulnerability scanning into the pipeline so that insecure dependencies and container images are detected and blocked before deployment.</a:t>
            </a:r>
          </a:p>
          <a:p>
            <a:pPr algn="just">
              <a:buClr>
                <a:schemeClr val="tx1"/>
              </a:buCl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To establish a security gate at the output stage (AS3) that prevents deployment whenever critical vulnerabilities are present. </a:t>
            </a:r>
          </a:p>
          <a:p>
            <a:pPr algn="just">
              <a:buClr>
                <a:schemeClr val="tx1"/>
              </a:buCl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To validate the design end-to-end through a real Hospital Management System case study covering seven user roles and twelve operational modules.</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3187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226C5-4FA5-F8CE-465A-D260A1105488}"/>
              </a:ext>
            </a:extLst>
          </p:cNvPr>
          <p:cNvSpPr>
            <a:spLocks noGrp="1"/>
          </p:cNvSpPr>
          <p:nvPr>
            <p:ph idx="1"/>
          </p:nvPr>
        </p:nvSpPr>
        <p:spPr>
          <a:xfrm>
            <a:off x="2287875" y="1063337"/>
            <a:ext cx="8915400" cy="3777622"/>
          </a:xfrm>
        </p:spPr>
        <p:txBody>
          <a:bodyPr/>
          <a:lstStyle/>
          <a:p>
            <a:pPr marL="0" indent="0">
              <a:buNone/>
            </a:pPr>
            <a:r>
              <a:rPr lang="en-IN" sz="2400" b="1" dirty="0">
                <a:solidFill>
                  <a:schemeClr val="tx1"/>
                </a:solidFill>
                <a:latin typeface="Times New Roman" panose="02020603050405020304" pitchFamily="18" charset="0"/>
                <a:cs typeface="Times New Roman" panose="02020603050405020304" pitchFamily="18" charset="0"/>
              </a:rPr>
              <a:t>EXISTING SYSTEM </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200" dirty="0">
                <a:solidFill>
                  <a:schemeClr val="tx1"/>
                </a:solidFill>
                <a:latin typeface="Times New Roman" panose="02020603050405020304" pitchFamily="18" charset="0"/>
                <a:cs typeface="Times New Roman" panose="02020603050405020304" pitchFamily="18" charset="0"/>
              </a:rPr>
              <a:t>	In traditional hospital software systems, deployment is mostly manual or only partially automated. Developers test updates locally and deploy them manually, which is time-consuming and error-prone. Basic CI/CD pipelines, where used, focus mainly on build and simple testing. Critical steps like security validation, artifact verification, and controlled deployment are often missing. This leads to heavy reliance on human intervention and inconsistent processes. Urgent situations may cause teams to skip tests and release unstable software. As a result, system reliability and consistency across environments are compromised.</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3250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EF2CC2-5BDC-47BF-5580-B2BDFA9E0D12}"/>
              </a:ext>
            </a:extLst>
          </p:cNvPr>
          <p:cNvSpPr>
            <a:spLocks noGrp="1"/>
          </p:cNvSpPr>
          <p:nvPr>
            <p:ph idx="1"/>
          </p:nvPr>
        </p:nvSpPr>
        <p:spPr>
          <a:xfrm>
            <a:off x="2223655" y="1262495"/>
            <a:ext cx="8572500" cy="4333010"/>
          </a:xfrm>
        </p:spPr>
        <p:txBody>
          <a:bodyPr>
            <a:normAutofit fontScale="62500" lnSpcReduction="20000"/>
          </a:bodyPr>
          <a:lstStyle/>
          <a:p>
            <a:pPr marL="0" indent="0">
              <a:buNone/>
            </a:pPr>
            <a:r>
              <a:rPr lang="en-IN" sz="3800" b="1" dirty="0">
                <a:solidFill>
                  <a:schemeClr val="tx1"/>
                </a:solidFill>
                <a:latin typeface="Times New Roman" panose="02020603050405020304" pitchFamily="18" charset="0"/>
                <a:cs typeface="Times New Roman" panose="02020603050405020304" pitchFamily="18" charset="0"/>
              </a:rPr>
              <a:t>Limitations of Existing System</a:t>
            </a:r>
          </a:p>
          <a:p>
            <a:pPr algn="just">
              <a:buClr>
                <a:schemeClr val="tx1"/>
              </a:buClr>
              <a:buFont typeface="Wingdings" panose="05000000000000000000" pitchFamily="2" charset="2"/>
              <a:buChar char="Ø"/>
            </a:pPr>
            <a:r>
              <a:rPr lang="en-US" sz="3500" dirty="0">
                <a:solidFill>
                  <a:schemeClr val="tx1"/>
                </a:solidFill>
                <a:latin typeface="Times New Roman" panose="02020603050405020304" pitchFamily="18" charset="0"/>
                <a:cs typeface="Times New Roman" panose="02020603050405020304" pitchFamily="18" charset="0"/>
              </a:rPr>
              <a:t>High dependency on manual intervention. Repeated manual errors during deployment cause application failures, incorrect data processing, and downtime.</a:t>
            </a:r>
          </a:p>
          <a:p>
            <a:pPr algn="just">
              <a:buClr>
                <a:schemeClr val="tx1"/>
              </a:buClr>
              <a:buFont typeface="Wingdings" panose="05000000000000000000" pitchFamily="2" charset="2"/>
              <a:buChar char="Ø"/>
            </a:pPr>
            <a:r>
              <a:rPr lang="en-US" sz="3500" dirty="0">
                <a:solidFill>
                  <a:schemeClr val="tx1"/>
                </a:solidFill>
                <a:latin typeface="Times New Roman" panose="02020603050405020304" pitchFamily="18" charset="0"/>
                <a:cs typeface="Times New Roman" panose="02020603050405020304" pitchFamily="18" charset="0"/>
              </a:rPr>
              <a:t>Lack of enforced security validation. Vulnerability scanning, dependency checking, and artifact verification are often optional or done after deployment.</a:t>
            </a:r>
          </a:p>
          <a:p>
            <a:pPr algn="just">
              <a:buClr>
                <a:schemeClr val="tx1"/>
              </a:buClr>
              <a:buFont typeface="Wingdings" panose="05000000000000000000" pitchFamily="2" charset="2"/>
              <a:buChar char="Ø"/>
            </a:pPr>
            <a:r>
              <a:rPr lang="en-US" sz="3500" dirty="0">
                <a:solidFill>
                  <a:schemeClr val="tx1"/>
                </a:solidFill>
                <a:latin typeface="Times New Roman" panose="02020603050405020304" pitchFamily="18" charset="0"/>
                <a:cs typeface="Times New Roman" panose="02020603050405020304" pitchFamily="18" charset="0"/>
              </a:rPr>
              <a:t>Uncontrolled output artifacts (AS3 vulnerability). Final builds and Docker images are trusted without verification, allowing vulnerable or outdated components into production.</a:t>
            </a:r>
          </a:p>
          <a:p>
            <a:pPr algn="just">
              <a:buClr>
                <a:schemeClr val="tx1"/>
              </a:buClr>
              <a:buFont typeface="Wingdings" panose="05000000000000000000" pitchFamily="2" charset="2"/>
              <a:buChar char="Ø"/>
            </a:pPr>
            <a:r>
              <a:rPr lang="en-US" sz="3500" dirty="0">
                <a:solidFill>
                  <a:schemeClr val="tx1"/>
                </a:solidFill>
                <a:latin typeface="Times New Roman" panose="02020603050405020304" pitchFamily="18" charset="0"/>
                <a:cs typeface="Times New Roman" panose="02020603050405020304" pitchFamily="18" charset="0"/>
              </a:rPr>
              <a:t>Inconsistent deployment environments. Differences in configurations, libraries, and runtimes cause unexpected behavior in clinical settings. </a:t>
            </a:r>
            <a:endParaRPr lang="en-IN" sz="3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9386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03FB65-A7D6-42E0-B83B-0E3C15FC9EEF}"/>
              </a:ext>
            </a:extLst>
          </p:cNvPr>
          <p:cNvSpPr>
            <a:spLocks noGrp="1"/>
          </p:cNvSpPr>
          <p:nvPr>
            <p:ph idx="1"/>
          </p:nvPr>
        </p:nvSpPr>
        <p:spPr>
          <a:xfrm>
            <a:off x="2547649" y="1073727"/>
            <a:ext cx="8705706" cy="4142510"/>
          </a:xfrm>
        </p:spPr>
        <p:txBody>
          <a:bodyPr>
            <a:normAutofit/>
          </a:bodyPr>
          <a:lstStyle/>
          <a:p>
            <a:pPr marL="0" indent="0">
              <a:buNone/>
            </a:pPr>
            <a:r>
              <a:rPr lang="en-IN" sz="2400" b="1" dirty="0">
                <a:solidFill>
                  <a:schemeClr val="tx1"/>
                </a:solidFill>
                <a:latin typeface="Times New Roman" panose="02020603050405020304" pitchFamily="18" charset="0"/>
                <a:cs typeface="Times New Roman" panose="02020603050405020304" pitchFamily="18" charset="0"/>
              </a:rPr>
              <a:t>PROPOSED SYSTEM</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200" dirty="0">
                <a:solidFill>
                  <a:schemeClr val="tx1"/>
                </a:solidFill>
                <a:latin typeface="Times New Roman" panose="02020603050405020304" pitchFamily="18" charset="0"/>
                <a:cs typeface="Times New Roman" panose="02020603050405020304" pitchFamily="18" charset="0"/>
              </a:rPr>
              <a:t>	The proposed system introduces a fully automated and secure CI/CD pipeline for hospital software systems like HMS. It ensures that every code update follows strict validation and security checks before deployment. A centralized repository acts as the single source of truth, triggering the pipeline on each change. The pipeline includes stages such as build, testing, Docker containerization, vulnerability scanning, and controlled deployment. Each stage acts as a mandatory checkpoint, stopping the process if any failure occurs. This prevents insecure or unstable software from reaching production. The system is demonstrated using a Hospital Management System case study.</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5060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47E6D-D115-CC9A-1698-A370720C243F}"/>
              </a:ext>
            </a:extLst>
          </p:cNvPr>
          <p:cNvSpPr>
            <a:spLocks noGrp="1"/>
          </p:cNvSpPr>
          <p:nvPr>
            <p:ph idx="1"/>
          </p:nvPr>
        </p:nvSpPr>
        <p:spPr>
          <a:xfrm>
            <a:off x="1756064" y="592281"/>
            <a:ext cx="9395257" cy="5590309"/>
          </a:xfrm>
        </p:spPr>
        <p:txBody>
          <a:bodyPr>
            <a:normAutofit fontScale="85000" lnSpcReduction="20000"/>
          </a:bodyPr>
          <a:lstStyle/>
          <a:p>
            <a:pPr marL="0" indent="0">
              <a:buNone/>
            </a:pPr>
            <a:r>
              <a:rPr lang="en-IN" sz="3400" b="1" dirty="0">
                <a:solidFill>
                  <a:schemeClr val="tx1"/>
                </a:solidFill>
                <a:latin typeface="Times New Roman" panose="02020603050405020304" pitchFamily="18" charset="0"/>
                <a:cs typeface="Times New Roman" panose="02020603050405020304" pitchFamily="18" charset="0"/>
              </a:rPr>
              <a:t>Advantages of Proposed System</a:t>
            </a:r>
          </a:p>
          <a:p>
            <a:pPr marL="0" indent="0">
              <a:buNone/>
            </a:pPr>
            <a:endParaRPr lang="en-IN" sz="3400" b="1"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Automation-driven risk reduction. Eliminates manual intervention; every update follows the same workflow, lowering human error.</a:t>
            </a:r>
          </a:p>
          <a:p>
            <a:pPr algn="just">
              <a:buClr>
                <a:schemeClr val="tx1"/>
              </a:buClr>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Enforced output-stage security (AS3 mitigation). Vulnerability scanning ensures only safe Docker images are deployed. </a:t>
            </a:r>
          </a:p>
          <a:p>
            <a:pPr algn="just">
              <a:buClr>
                <a:schemeClr val="tx1"/>
              </a:buClr>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Consistent and reproducible environments. Containerization removes drift between development, testing, and production. </a:t>
            </a:r>
          </a:p>
          <a:p>
            <a:pPr algn="just">
              <a:buClr>
                <a:schemeClr val="tx1"/>
              </a:buClr>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Early detection of issues. Automated testing and scanning catch problems before they reach production.</a:t>
            </a:r>
          </a:p>
          <a:p>
            <a:pPr algn="just">
              <a:buClr>
                <a:schemeClr val="tx1"/>
              </a:buClr>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Suitability for healthcare applications. High reliability, data integrity, and secure deployment match HMS requirements.</a:t>
            </a:r>
          </a:p>
          <a:p>
            <a:pPr algn="just">
              <a:buClr>
                <a:schemeClr val="tx1"/>
              </a:buClr>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Beginner-friendly implementation. Uses GitHub Actions, Docker, and </a:t>
            </a:r>
            <a:r>
              <a:rPr lang="en-US" sz="3100" dirty="0" err="1">
                <a:solidFill>
                  <a:schemeClr val="tx1"/>
                </a:solidFill>
                <a:latin typeface="Times New Roman" panose="02020603050405020304" pitchFamily="18" charset="0"/>
                <a:cs typeface="Times New Roman" panose="02020603050405020304" pitchFamily="18" charset="0"/>
              </a:rPr>
              <a:t>Trivy</a:t>
            </a:r>
            <a:r>
              <a:rPr lang="en-US" sz="3100" dirty="0">
                <a:solidFill>
                  <a:schemeClr val="tx1"/>
                </a:solidFill>
                <a:latin typeface="Times New Roman" panose="02020603050405020304" pitchFamily="18" charset="0"/>
                <a:cs typeface="Times New Roman" panose="02020603050405020304" pitchFamily="18" charset="0"/>
              </a:rPr>
              <a:t> - free, widely used, and well documented. </a:t>
            </a:r>
            <a:endParaRPr lang="en-IN" sz="3100" b="1"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396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83B0BF-AD97-AC38-D7D9-F6629ADE144A}"/>
              </a:ext>
            </a:extLst>
          </p:cNvPr>
          <p:cNvSpPr txBox="1"/>
          <p:nvPr/>
        </p:nvSpPr>
        <p:spPr>
          <a:xfrm>
            <a:off x="2312234" y="861470"/>
            <a:ext cx="6093500" cy="4581062"/>
          </a:xfrm>
          <a:prstGeom prst="rect">
            <a:avLst/>
          </a:prstGeom>
          <a:noFill/>
        </p:spPr>
        <p:txBody>
          <a:bodyPr wrap="square">
            <a:spAutoFit/>
          </a:bodyPr>
          <a:lstStyle/>
          <a:p>
            <a:pPr>
              <a:buNone/>
            </a:pPr>
            <a:r>
              <a:rPr lang="en-IN" sz="2800" b="1" dirty="0">
                <a:latin typeface="Times New Roman" panose="02020603050405020304" pitchFamily="18" charset="0"/>
                <a:cs typeface="Times New Roman" panose="02020603050405020304" pitchFamily="18" charset="0"/>
              </a:rPr>
              <a:t>5. System Architecture</a:t>
            </a:r>
          </a:p>
          <a:p>
            <a:pPr>
              <a:buNone/>
            </a:pPr>
            <a:endParaRPr lang="en-IN" sz="2800" b="1"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Layers:</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Development Layer – Developer writes code.</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Version Control Layer – GitHub repository.</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CI/CD Layer – GitHub Actions workflow.</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Security Layer – </a:t>
            </a:r>
            <a:r>
              <a:rPr lang="en-IN" sz="2400" dirty="0" err="1">
                <a:latin typeface="Times New Roman" panose="02020603050405020304" pitchFamily="18" charset="0"/>
                <a:cs typeface="Times New Roman" panose="02020603050405020304" pitchFamily="18" charset="0"/>
              </a:rPr>
              <a:t>Trivy</a:t>
            </a:r>
            <a:r>
              <a:rPr lang="en-IN" sz="2400" dirty="0">
                <a:latin typeface="Times New Roman" panose="02020603050405020304" pitchFamily="18" charset="0"/>
                <a:cs typeface="Times New Roman" panose="02020603050405020304" pitchFamily="18" charset="0"/>
              </a:rPr>
              <a:t> vulnerability scan.</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Artifact Layer – Docker image.</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Deployment Layer – </a:t>
            </a:r>
            <a:r>
              <a:rPr lang="en-IN" sz="2400" dirty="0" err="1">
                <a:latin typeface="Times New Roman" panose="02020603050405020304" pitchFamily="18" charset="0"/>
                <a:cs typeface="Times New Roman" panose="02020603050405020304" pitchFamily="18" charset="0"/>
              </a:rPr>
              <a:t>Vercel</a:t>
            </a:r>
            <a:r>
              <a:rPr lang="en-IN" sz="2400" dirty="0">
                <a:latin typeface="Times New Roman" panose="02020603050405020304" pitchFamily="18" charset="0"/>
                <a:cs typeface="Times New Roman" panose="02020603050405020304" pitchFamily="18" charset="0"/>
              </a:rPr>
              <a:t> server.</a:t>
            </a:r>
          </a:p>
        </p:txBody>
      </p:sp>
    </p:spTree>
    <p:extLst>
      <p:ext uri="{BB962C8B-B14F-4D97-AF65-F5344CB8AC3E}">
        <p14:creationId xmlns:p14="http://schemas.microsoft.com/office/powerpoint/2010/main" val="2939265134"/>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6F464E-0ED3-9E03-55C6-C550DD096AD4}"/>
              </a:ext>
            </a:extLst>
          </p:cNvPr>
          <p:cNvSpPr txBox="1"/>
          <p:nvPr/>
        </p:nvSpPr>
        <p:spPr>
          <a:xfrm>
            <a:off x="2370281" y="1309024"/>
            <a:ext cx="8866679" cy="3477875"/>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	Architecture integrates development, automation, security, and deployment into a unified framework. Developers push updates to a centralized GitHub repository which acts as the single source of truth. Each push triggers the CI/CD automation layer, which performs code checkout, dependency installation, automated testing, build, and validation. A dedicated security layer scans dependencies and Docker images using </a:t>
            </a:r>
            <a:r>
              <a:rPr lang="en-US" sz="2200" dirty="0" err="1">
                <a:latin typeface="Times New Roman" panose="02020603050405020304" pitchFamily="18" charset="0"/>
                <a:cs typeface="Times New Roman" panose="02020603050405020304" pitchFamily="18" charset="0"/>
              </a:rPr>
              <a:t>Trivy</a:t>
            </a:r>
            <a:r>
              <a:rPr lang="en-US" sz="2200" dirty="0">
                <a:latin typeface="Times New Roman" panose="02020603050405020304" pitchFamily="18" charset="0"/>
                <a:cs typeface="Times New Roman" panose="02020603050405020304" pitchFamily="18" charset="0"/>
              </a:rPr>
              <a:t>. The deployment layer uses Docker containerization to release the application to its target environment, while a monitoring layer tracks pipeline execution and emits alerts. The result is a secure, automated, and reliable workflow for hospital software.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5438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A19338-6AE2-6F40-9D2E-23542FF87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889" y="843856"/>
            <a:ext cx="6890222" cy="5764762"/>
          </a:xfrm>
          <a:prstGeom prst="rect">
            <a:avLst/>
          </a:prstGeom>
        </p:spPr>
      </p:pic>
      <p:sp>
        <p:nvSpPr>
          <p:cNvPr id="2" name="TextBox 1">
            <a:extLst>
              <a:ext uri="{FF2B5EF4-FFF2-40B4-BE49-F238E27FC236}">
                <a16:creationId xmlns:a16="http://schemas.microsoft.com/office/drawing/2014/main" id="{A2D9549B-1DE5-2488-B7C7-0F8FE4C7C578}"/>
              </a:ext>
            </a:extLst>
          </p:cNvPr>
          <p:cNvSpPr txBox="1"/>
          <p:nvPr/>
        </p:nvSpPr>
        <p:spPr>
          <a:xfrm>
            <a:off x="4750377" y="249382"/>
            <a:ext cx="2691245" cy="430887"/>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System Architecture</a:t>
            </a:r>
          </a:p>
        </p:txBody>
      </p:sp>
    </p:spTree>
    <p:extLst>
      <p:ext uri="{BB962C8B-B14F-4D97-AF65-F5344CB8AC3E}">
        <p14:creationId xmlns:p14="http://schemas.microsoft.com/office/powerpoint/2010/main" val="394268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7EE83D-D2A7-9B41-9030-B08487E330DD}"/>
              </a:ext>
            </a:extLst>
          </p:cNvPr>
          <p:cNvSpPr txBox="1"/>
          <p:nvPr/>
        </p:nvSpPr>
        <p:spPr>
          <a:xfrm>
            <a:off x="2725016" y="828288"/>
            <a:ext cx="8549120" cy="5201424"/>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CI/CD Pipeline Architecture</a:t>
            </a:r>
            <a:r>
              <a:rPr lang="en-IN" sz="2400" dirty="0"/>
              <a:t>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The CI/CD pipeline architecture defines a structured workflow through which code moves from development to deployment. It is a sequence of automated stages, each acting as a quality gate. The pipeline is triggered when a developer pushes code to GitHub. The first stage is code checkout. </a:t>
            </a:r>
            <a:r>
              <a:rPr lang="en-US" sz="2200" dirty="0" err="1">
                <a:latin typeface="Times New Roman" panose="02020603050405020304" pitchFamily="18" charset="0"/>
                <a:cs typeface="Times New Roman" panose="02020603050405020304" pitchFamily="18" charset="0"/>
              </a:rPr>
              <a:t>Pytest</a:t>
            </a:r>
            <a:r>
              <a:rPr lang="en-US" sz="2200" dirty="0">
                <a:latin typeface="Times New Roman" panose="02020603050405020304" pitchFamily="18" charset="0"/>
                <a:cs typeface="Times New Roman" panose="02020603050405020304" pitchFamily="18" charset="0"/>
              </a:rPr>
              <a:t> then validates correctness. Once testing passes, the pipeline proceeds to the build stage where a Docker image is created. The next stage is vulnerability scanning, which is critical for security: </a:t>
            </a:r>
            <a:r>
              <a:rPr lang="en-US" sz="2200" dirty="0" err="1">
                <a:latin typeface="Times New Roman" panose="02020603050405020304" pitchFamily="18" charset="0"/>
                <a:cs typeface="Times New Roman" panose="02020603050405020304" pitchFamily="18" charset="0"/>
              </a:rPr>
              <a:t>Trivy</a:t>
            </a:r>
            <a:r>
              <a:rPr lang="en-US" sz="2200" dirty="0">
                <a:latin typeface="Times New Roman" panose="02020603050405020304" pitchFamily="18" charset="0"/>
                <a:cs typeface="Times New Roman" panose="02020603050405020304" pitchFamily="18" charset="0"/>
              </a:rPr>
              <a:t> scans the image for known CVEs, outdated dependencies, and misconfigurations. If critical issues are detected the pipeline stops immediately. If all stages pass, the pipeline proceeds to controlled deployment to the target environment. The architecture provides automated execution, early error detection, security enforcement, and controlled, reliable deployment.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1228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8DFE5F-419F-6489-8463-19DCB6F55C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5213" y="1050930"/>
            <a:ext cx="6941573" cy="5302438"/>
          </a:xfrm>
          <a:prstGeom prst="rect">
            <a:avLst/>
          </a:prstGeom>
        </p:spPr>
      </p:pic>
      <p:sp>
        <p:nvSpPr>
          <p:cNvPr id="2" name="TextBox 1">
            <a:extLst>
              <a:ext uri="{FF2B5EF4-FFF2-40B4-BE49-F238E27FC236}">
                <a16:creationId xmlns:a16="http://schemas.microsoft.com/office/drawing/2014/main" id="{A526D004-DDF8-F1E2-6E51-1D41DA8E750C}"/>
              </a:ext>
            </a:extLst>
          </p:cNvPr>
          <p:cNvSpPr txBox="1"/>
          <p:nvPr/>
        </p:nvSpPr>
        <p:spPr>
          <a:xfrm>
            <a:off x="4686300" y="384464"/>
            <a:ext cx="2982191" cy="430887"/>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CI/CD Pipeline Flow </a:t>
            </a:r>
          </a:p>
        </p:txBody>
      </p:sp>
    </p:spTree>
    <p:extLst>
      <p:ext uri="{BB962C8B-B14F-4D97-AF65-F5344CB8AC3E}">
        <p14:creationId xmlns:p14="http://schemas.microsoft.com/office/powerpoint/2010/main" val="3969628612"/>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7C4F4F-4589-C89E-87F6-8402A6AE4C44}"/>
              </a:ext>
            </a:extLst>
          </p:cNvPr>
          <p:cNvSpPr txBox="1"/>
          <p:nvPr/>
        </p:nvSpPr>
        <p:spPr>
          <a:xfrm>
            <a:off x="1995054" y="320456"/>
            <a:ext cx="9673937" cy="621708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Application Architecture (3-Tier HMS)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Hospital Management System uses a three-tier architecture that separates concerns and improves maintainability. </a:t>
            </a:r>
          </a:p>
          <a:p>
            <a:endParaRPr lang="en-US" sz="22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Tier 1 - the presentation tier is a Single Page Application built with React 19, TypeScript, and Vite. It runs in the user's browser and communicates with the backend through RESTful API calls over HTTPS. </a:t>
            </a:r>
          </a:p>
          <a:p>
            <a:pPr marL="342900" indent="-342900">
              <a:buFont typeface="Courier New" panose="02070309020205020404" pitchFamily="49" charset="0"/>
              <a:buChar char="o"/>
            </a:pPr>
            <a:endParaRPr lang="en-US" sz="22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Tier 2 - the application tier is a </a:t>
            </a:r>
            <a:r>
              <a:rPr lang="en-US" sz="2200" dirty="0" err="1">
                <a:latin typeface="Times New Roman" panose="02020603050405020304" pitchFamily="18" charset="0"/>
                <a:cs typeface="Times New Roman" panose="02020603050405020304" pitchFamily="18" charset="0"/>
              </a:rPr>
              <a:t>FastAPI</a:t>
            </a:r>
            <a:r>
              <a:rPr lang="en-US" sz="2200" dirty="0">
                <a:latin typeface="Times New Roman" panose="02020603050405020304" pitchFamily="18" charset="0"/>
                <a:cs typeface="Times New Roman" panose="02020603050405020304" pitchFamily="18" charset="0"/>
              </a:rPr>
              <a:t> backend on Python 3.11 served by </a:t>
            </a:r>
            <a:r>
              <a:rPr lang="en-US" sz="2200" dirty="0" err="1">
                <a:latin typeface="Times New Roman" panose="02020603050405020304" pitchFamily="18" charset="0"/>
                <a:cs typeface="Times New Roman" panose="02020603050405020304" pitchFamily="18" charset="0"/>
              </a:rPr>
              <a:t>Uvicorn</a:t>
            </a:r>
            <a:r>
              <a:rPr lang="en-US" sz="2200" dirty="0">
                <a:latin typeface="Times New Roman" panose="02020603050405020304" pitchFamily="18" charset="0"/>
                <a:cs typeface="Times New Roman" panose="02020603050405020304" pitchFamily="18" charset="0"/>
              </a:rPr>
              <a:t>. It contains business logic, authentication and authorization, validation, PDF invoice generation, and the REST API endpoints; it accesses the database through psycopg2's </a:t>
            </a:r>
            <a:r>
              <a:rPr lang="en-US" sz="2200" dirty="0" err="1">
                <a:latin typeface="Times New Roman" panose="02020603050405020304" pitchFamily="18" charset="0"/>
                <a:cs typeface="Times New Roman" panose="02020603050405020304" pitchFamily="18" charset="0"/>
              </a:rPr>
              <a:t>ThreadedConnectionPool</a:t>
            </a:r>
            <a:r>
              <a:rPr lang="en-US" sz="2200" dirty="0">
                <a:latin typeface="Times New Roman" panose="02020603050405020304" pitchFamily="18" charset="0"/>
                <a:cs typeface="Times New Roman" panose="02020603050405020304" pitchFamily="18" charset="0"/>
              </a:rPr>
              <a:t>. </a:t>
            </a:r>
          </a:p>
          <a:p>
            <a:pPr marL="342900" indent="-342900">
              <a:buFont typeface="Courier New" panose="02070309020205020404" pitchFamily="49" charset="0"/>
              <a:buChar char="o"/>
            </a:pPr>
            <a:endParaRPr lang="en-US" sz="22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Tier 3 - the data tier is a PostgreSQL 16 relational database. Locally it runs as the postgres:16-alpine container; in production it uses Neon DB, a serverless PostgreSQL service offering automatic scaling and zero-downtime upgrades. The schema contains 19 interrelated tables covering all hospital domains.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0475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6080F2-6FAA-3FA3-6EC3-8D5F28523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8585" y="894916"/>
            <a:ext cx="5080723" cy="5414074"/>
          </a:xfrm>
          <a:prstGeom prst="rect">
            <a:avLst/>
          </a:prstGeom>
        </p:spPr>
      </p:pic>
      <p:sp>
        <p:nvSpPr>
          <p:cNvPr id="4" name="TextBox 3">
            <a:extLst>
              <a:ext uri="{FF2B5EF4-FFF2-40B4-BE49-F238E27FC236}">
                <a16:creationId xmlns:a16="http://schemas.microsoft.com/office/drawing/2014/main" id="{E57825C9-DDAD-7122-DDC5-D1FD6549EF36}"/>
              </a:ext>
            </a:extLst>
          </p:cNvPr>
          <p:cNvSpPr txBox="1"/>
          <p:nvPr/>
        </p:nvSpPr>
        <p:spPr>
          <a:xfrm>
            <a:off x="4938278" y="204992"/>
            <a:ext cx="3291321" cy="430887"/>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HMS 3-Tier Architecture</a:t>
            </a:r>
          </a:p>
        </p:txBody>
      </p:sp>
    </p:spTree>
    <p:extLst>
      <p:ext uri="{BB962C8B-B14F-4D97-AF65-F5344CB8AC3E}">
        <p14:creationId xmlns:p14="http://schemas.microsoft.com/office/powerpoint/2010/main" val="448945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38A4C8-EC64-5E1D-FEF2-35FF12498F81}"/>
              </a:ext>
            </a:extLst>
          </p:cNvPr>
          <p:cNvSpPr txBox="1"/>
          <p:nvPr/>
        </p:nvSpPr>
        <p:spPr>
          <a:xfrm>
            <a:off x="2537710" y="1035745"/>
            <a:ext cx="7116580" cy="4448141"/>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TOOLS AND TECHNOLOGIES USED</a:t>
            </a:r>
          </a:p>
          <a:p>
            <a:pPr>
              <a:buNone/>
            </a:pPr>
            <a:endParaRPr lang="en-IN" sz="28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Git &amp; GitHub – Version control.</a:t>
            </a:r>
          </a:p>
          <a:p>
            <a:pPr marL="342900" indent="-342900">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GitHub Actions – CI/CD automation.</a:t>
            </a:r>
          </a:p>
          <a:p>
            <a:pPr marL="342900" indent="-342900">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Docker – Containerization.</a:t>
            </a:r>
          </a:p>
          <a:p>
            <a:pPr marL="342900" indent="-342900">
              <a:lnSpc>
                <a:spcPct val="150000"/>
              </a:lnSpc>
              <a:buFont typeface="Wingdings" panose="05000000000000000000" pitchFamily="2" charset="2"/>
              <a:buChar char="Ø"/>
            </a:pPr>
            <a:r>
              <a:rPr lang="en-IN" sz="2200" dirty="0" err="1">
                <a:latin typeface="Times New Roman" panose="02020603050405020304" pitchFamily="18" charset="0"/>
                <a:cs typeface="Times New Roman" panose="02020603050405020304" pitchFamily="18" charset="0"/>
              </a:rPr>
              <a:t>Trivy</a:t>
            </a:r>
            <a:r>
              <a:rPr lang="en-IN" sz="2200" dirty="0">
                <a:latin typeface="Times New Roman" panose="02020603050405020304" pitchFamily="18" charset="0"/>
                <a:cs typeface="Times New Roman" panose="02020603050405020304" pitchFamily="18" charset="0"/>
              </a:rPr>
              <a:t> – Vulnerability scanning.</a:t>
            </a:r>
          </a:p>
          <a:p>
            <a:pPr marL="342900" indent="-342900">
              <a:lnSpc>
                <a:spcPct val="150000"/>
              </a:lnSpc>
              <a:buFont typeface="Wingdings" panose="05000000000000000000" pitchFamily="2" charset="2"/>
              <a:buChar char="Ø"/>
            </a:pPr>
            <a:r>
              <a:rPr lang="en-IN" sz="2200" dirty="0" err="1">
                <a:latin typeface="Times New Roman" panose="02020603050405020304" pitchFamily="18" charset="0"/>
                <a:cs typeface="Times New Roman" panose="02020603050405020304" pitchFamily="18" charset="0"/>
              </a:rPr>
              <a:t>Vercel</a:t>
            </a:r>
            <a:r>
              <a:rPr lang="en-IN" sz="2200" dirty="0">
                <a:latin typeface="Times New Roman" panose="02020603050405020304" pitchFamily="18" charset="0"/>
                <a:cs typeface="Times New Roman" panose="02020603050405020304" pitchFamily="18" charset="0"/>
              </a:rPr>
              <a:t> – Deployment.</a:t>
            </a:r>
          </a:p>
          <a:p>
            <a:pPr marL="342900" indent="-342900">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Python (Flask) – Backend development.</a:t>
            </a:r>
          </a:p>
          <a:p>
            <a:pPr marL="342900" indent="-342900">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Neon – Database.</a:t>
            </a:r>
          </a:p>
        </p:txBody>
      </p:sp>
    </p:spTree>
    <p:extLst>
      <p:ext uri="{BB962C8B-B14F-4D97-AF65-F5344CB8AC3E}">
        <p14:creationId xmlns:p14="http://schemas.microsoft.com/office/powerpoint/2010/main" val="2560244251"/>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7C2B1D4-6C28-DB1C-9075-0737DF6F4193}"/>
              </a:ext>
            </a:extLst>
          </p:cNvPr>
          <p:cNvGraphicFramePr>
            <a:graphicFrameLocks noGrp="1"/>
          </p:cNvGraphicFramePr>
          <p:nvPr>
            <p:extLst>
              <p:ext uri="{D42A27DB-BD31-4B8C-83A1-F6EECF244321}">
                <p14:modId xmlns:p14="http://schemas.microsoft.com/office/powerpoint/2010/main" val="1654669650"/>
              </p:ext>
            </p:extLst>
          </p:nvPr>
        </p:nvGraphicFramePr>
        <p:xfrm>
          <a:off x="2098963" y="357504"/>
          <a:ext cx="9123217" cy="5616000"/>
        </p:xfrm>
        <a:graphic>
          <a:graphicData uri="http://schemas.openxmlformats.org/drawingml/2006/table">
            <a:tbl>
              <a:tblPr>
                <a:tableStyleId>{073A0DAA-6AF3-43AB-8588-CEC1D06C72B9}</a:tableStyleId>
              </a:tblPr>
              <a:tblGrid>
                <a:gridCol w="2962082">
                  <a:extLst>
                    <a:ext uri="{9D8B030D-6E8A-4147-A177-3AD203B41FA5}">
                      <a16:colId xmlns:a16="http://schemas.microsoft.com/office/drawing/2014/main" val="159889497"/>
                    </a:ext>
                  </a:extLst>
                </a:gridCol>
                <a:gridCol w="3471561">
                  <a:extLst>
                    <a:ext uri="{9D8B030D-6E8A-4147-A177-3AD203B41FA5}">
                      <a16:colId xmlns:a16="http://schemas.microsoft.com/office/drawing/2014/main" val="2468075525"/>
                    </a:ext>
                  </a:extLst>
                </a:gridCol>
                <a:gridCol w="2689574">
                  <a:extLst>
                    <a:ext uri="{9D8B030D-6E8A-4147-A177-3AD203B41FA5}">
                      <a16:colId xmlns:a16="http://schemas.microsoft.com/office/drawing/2014/main" val="371589057"/>
                    </a:ext>
                  </a:extLst>
                </a:gridCol>
              </a:tblGrid>
              <a:tr h="468000">
                <a:tc>
                  <a:txBody>
                    <a:bodyPr/>
                    <a:lstStyle/>
                    <a:p>
                      <a:pPr algn="ctr">
                        <a:lnSpc>
                          <a:spcPct val="125000"/>
                        </a:lnSpc>
                        <a:buNone/>
                      </a:pPr>
                      <a:r>
                        <a:rPr lang="en-IN" sz="2000" b="1" dirty="0">
                          <a:effectLst/>
                          <a:latin typeface="Times New Roman" panose="02020603050405020304" pitchFamily="18" charset="0"/>
                          <a:cs typeface="Times New Roman" panose="02020603050405020304" pitchFamily="18" charset="0"/>
                        </a:rPr>
                        <a:t>Category</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25000"/>
                        </a:lnSpc>
                        <a:buNone/>
                      </a:pPr>
                      <a:r>
                        <a:rPr lang="en-IN" sz="2000" b="1" dirty="0">
                          <a:effectLst/>
                          <a:latin typeface="Times New Roman" panose="02020603050405020304" pitchFamily="18" charset="0"/>
                          <a:cs typeface="Times New Roman" panose="02020603050405020304" pitchFamily="18" charset="0"/>
                        </a:rPr>
                        <a:t>Tool</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25000"/>
                        </a:lnSpc>
                        <a:buNone/>
                      </a:pPr>
                      <a:r>
                        <a:rPr lang="en-IN" sz="2000" b="1" dirty="0">
                          <a:effectLst/>
                          <a:latin typeface="Times New Roman" panose="02020603050405020304" pitchFamily="18" charset="0"/>
                          <a:cs typeface="Times New Roman" panose="02020603050405020304" pitchFamily="18" charset="0"/>
                        </a:rPr>
                        <a:t>Purpose</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2540902"/>
                  </a:ext>
                </a:extLst>
              </a:tr>
              <a:tr h="468000">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Version Control</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Git + GitHub</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Source code management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8464142"/>
                  </a:ext>
                </a:extLst>
              </a:tr>
              <a:tr h="468000">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Frontend Framework</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React 19 + TypeScript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User interface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2150557"/>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Build Tool</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Vite 6</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Frontend bundling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4102155"/>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Backend Framework</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err="1">
                          <a:effectLst/>
                          <a:latin typeface="Times New Roman" panose="02020603050405020304" pitchFamily="18" charset="0"/>
                          <a:cs typeface="Times New Roman" panose="02020603050405020304" pitchFamily="18" charset="0"/>
                        </a:rPr>
                        <a:t>FastAPI</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REST API server</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2602641"/>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Backend Language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Python 3.11</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Server-side logic</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4271726"/>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Database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PostgreSQL 16 / Neon DB</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Data persistence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0740222"/>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Containerization</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Docker + Docker Compose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Application packaging</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8561994"/>
                  </a:ext>
                </a:extLst>
              </a:tr>
              <a:tr h="468000">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CI/CD</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GitHub Actions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Automated pipelines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8287115"/>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Deployment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Vercel</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Cloud hosting</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766668"/>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Security Scanning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err="1">
                          <a:effectLst/>
                          <a:latin typeface="Times New Roman" panose="02020603050405020304" pitchFamily="18" charset="0"/>
                          <a:cs typeface="Times New Roman" panose="02020603050405020304" pitchFamily="18" charset="0"/>
                        </a:rPr>
                        <a:t>Gitleaks</a:t>
                      </a:r>
                      <a:r>
                        <a:rPr lang="en-IN" sz="2000" dirty="0">
                          <a:effectLst/>
                          <a:latin typeface="Times New Roman" panose="02020603050405020304" pitchFamily="18" charset="0"/>
                          <a:cs typeface="Times New Roman" panose="02020603050405020304" pitchFamily="18" charset="0"/>
                        </a:rPr>
                        <a:t>, </a:t>
                      </a:r>
                      <a:r>
                        <a:rPr lang="en-IN" sz="2000" dirty="0" err="1">
                          <a:effectLst/>
                          <a:latin typeface="Times New Roman" panose="02020603050405020304" pitchFamily="18" charset="0"/>
                          <a:cs typeface="Times New Roman" panose="02020603050405020304" pitchFamily="18" charset="0"/>
                        </a:rPr>
                        <a:t>Trivy</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Vulnerability detection</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108650"/>
                  </a:ext>
                </a:extLst>
              </a:tr>
              <a:tr h="468000">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API Testing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a:effectLst/>
                          <a:latin typeface="Times New Roman" panose="02020603050405020304" pitchFamily="18" charset="0"/>
                          <a:cs typeface="Times New Roman" panose="02020603050405020304" pitchFamily="18" charset="0"/>
                        </a:rPr>
                        <a:t>Pytest, curl</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25000"/>
                        </a:lnSpc>
                        <a:buNone/>
                      </a:pPr>
                      <a:r>
                        <a:rPr lang="en-IN" sz="2000" dirty="0">
                          <a:effectLst/>
                          <a:latin typeface="Times New Roman" panose="02020603050405020304" pitchFamily="18" charset="0"/>
                          <a:cs typeface="Times New Roman" panose="02020603050405020304" pitchFamily="18" charset="0"/>
                        </a:rPr>
                        <a:t>Endpoint testing</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6057" marR="36057" marT="21634" marB="216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4262718"/>
                  </a:ext>
                </a:extLst>
              </a:tr>
            </a:tbl>
          </a:graphicData>
        </a:graphic>
      </p:graphicFrame>
    </p:spTree>
    <p:extLst>
      <p:ext uri="{BB962C8B-B14F-4D97-AF65-F5344CB8AC3E}">
        <p14:creationId xmlns:p14="http://schemas.microsoft.com/office/powerpoint/2010/main" val="735717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089CC4-B309-2E1C-7B5E-CD26EA6AD31D}"/>
              </a:ext>
            </a:extLst>
          </p:cNvPr>
          <p:cNvSpPr txBox="1"/>
          <p:nvPr/>
        </p:nvSpPr>
        <p:spPr>
          <a:xfrm>
            <a:off x="3234170" y="120402"/>
            <a:ext cx="7281429" cy="661719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Installation Instructions </a:t>
            </a:r>
          </a:p>
          <a:p>
            <a:pPr>
              <a:buNone/>
            </a:pPr>
            <a:endParaRPr lang="en-IN" sz="2000" b="1"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1. Prerequisites (Verify Tools)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python --version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node --version</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--version</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psql</a:t>
            </a:r>
            <a:r>
              <a:rPr lang="en-IN" sz="1600" dirty="0">
                <a:latin typeface="Times New Roman" panose="02020603050405020304" pitchFamily="18" charset="0"/>
                <a:cs typeface="Times New Roman" panose="02020603050405020304" pitchFamily="18" charset="0"/>
              </a:rPr>
              <a:t> --version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docker --version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git --version</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2. Clone Repository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git clone </a:t>
            </a:r>
            <a:r>
              <a:rPr lang="en-IN" sz="1600" dirty="0">
                <a:latin typeface="Times New Roman" panose="02020603050405020304" pitchFamily="18" charset="0"/>
                <a:cs typeface="Times New Roman" panose="02020603050405020304" pitchFamily="18" charset="0"/>
                <a:hlinkClick r:id="rId2"/>
              </a:rPr>
              <a:t>https://github.com/your-username/Hospital-management-system.git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cd Hospital-management-system</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3. Environment Setup</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cp .</a:t>
            </a:r>
            <a:r>
              <a:rPr lang="en-IN" sz="1600" dirty="0" err="1">
                <a:latin typeface="Times New Roman" panose="02020603050405020304" pitchFamily="18" charset="0"/>
                <a:cs typeface="Times New Roman" panose="02020603050405020304" pitchFamily="18" charset="0"/>
              </a:rPr>
              <a:t>env.example</a:t>
            </a:r>
            <a:r>
              <a:rPr lang="en-IN" sz="1600" dirty="0">
                <a:latin typeface="Times New Roman" panose="02020603050405020304" pitchFamily="18" charset="0"/>
                <a:cs typeface="Times New Roman" panose="02020603050405020304" pitchFamily="18" charset="0"/>
              </a:rPr>
              <a:t> .env</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4. Install Backend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cd backend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python -m </a:t>
            </a:r>
            <a:r>
              <a:rPr lang="en-IN" sz="1600" dirty="0" err="1">
                <a:latin typeface="Times New Roman" panose="02020603050405020304" pitchFamily="18" charset="0"/>
                <a:cs typeface="Times New Roman" panose="02020603050405020304" pitchFamily="18" charset="0"/>
              </a:rPr>
              <a:t>venv</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venv</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venv</a:t>
            </a:r>
            <a:r>
              <a:rPr lang="en-IN" sz="1600" dirty="0">
                <a:latin typeface="Times New Roman" panose="02020603050405020304" pitchFamily="18" charset="0"/>
                <a:cs typeface="Times New Roman" panose="02020603050405020304" pitchFamily="18" charset="0"/>
              </a:rPr>
              <a:t>\Scripts\activate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pip install -r requirements.txt</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5. Install Frontend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cd frontend</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install</a:t>
            </a:r>
          </a:p>
        </p:txBody>
      </p:sp>
    </p:spTree>
    <p:extLst>
      <p:ext uri="{BB962C8B-B14F-4D97-AF65-F5344CB8AC3E}">
        <p14:creationId xmlns:p14="http://schemas.microsoft.com/office/powerpoint/2010/main" val="1050339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0A81AF-EA08-FE38-D095-40D00B5A9E11}"/>
              </a:ext>
            </a:extLst>
          </p:cNvPr>
          <p:cNvSpPr txBox="1"/>
          <p:nvPr/>
        </p:nvSpPr>
        <p:spPr>
          <a:xfrm>
            <a:off x="3047134" y="479540"/>
            <a:ext cx="6094268" cy="6001643"/>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6. Database Setup</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psql</a:t>
            </a:r>
            <a:r>
              <a:rPr lang="en-IN" sz="1600" dirty="0">
                <a:latin typeface="Times New Roman" panose="02020603050405020304" pitchFamily="18" charset="0"/>
                <a:cs typeface="Times New Roman" panose="02020603050405020304" pitchFamily="18" charset="0"/>
              </a:rPr>
              <a:t> -U </a:t>
            </a:r>
            <a:r>
              <a:rPr lang="en-IN" sz="1600" dirty="0" err="1">
                <a:latin typeface="Times New Roman" panose="02020603050405020304" pitchFamily="18" charset="0"/>
                <a:cs typeface="Times New Roman" panose="02020603050405020304" pitchFamily="18" charset="0"/>
              </a:rPr>
              <a:t>postgres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CREATE DATABASE </a:t>
            </a:r>
            <a:r>
              <a:rPr lang="en-IN" sz="1600" dirty="0" err="1">
                <a:latin typeface="Times New Roman" panose="02020603050405020304" pitchFamily="18" charset="0"/>
                <a:cs typeface="Times New Roman" panose="02020603050405020304" pitchFamily="18" charset="0"/>
              </a:rPr>
              <a:t>medcore_hms</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cd backend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python init_db.py</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7. Run Application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cd backend</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uvicorn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app.main:app</a:t>
            </a:r>
            <a:r>
              <a:rPr lang="en-IN" sz="1600" dirty="0">
                <a:latin typeface="Times New Roman" panose="02020603050405020304" pitchFamily="18" charset="0"/>
                <a:cs typeface="Times New Roman" panose="02020603050405020304" pitchFamily="18" charset="0"/>
              </a:rPr>
              <a:t> --reload</a:t>
            </a:r>
          </a:p>
          <a:p>
            <a:pPr>
              <a:buNone/>
            </a:pPr>
            <a:r>
              <a:rPr lang="en-IN" sz="1600" dirty="0">
                <a:latin typeface="Times New Roman" panose="02020603050405020304" pitchFamily="18" charset="0"/>
                <a:cs typeface="Times New Roman" panose="02020603050405020304" pitchFamily="18" charset="0"/>
              </a:rPr>
              <a:t>cd frontend</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run dev</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8. Docker Setup</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docker-compose up –build</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9. CI/CD (Auto via GitHub Actions)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(push code to trigger pipeline)</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10. Optional </a:t>
            </a:r>
            <a:r>
              <a:rPr lang="en-IN" sz="1600" b="1" dirty="0" err="1">
                <a:latin typeface="Times New Roman" panose="02020603050405020304" pitchFamily="18" charset="0"/>
                <a:cs typeface="Times New Roman" panose="02020603050405020304" pitchFamily="18" charset="0"/>
              </a:rPr>
              <a:t>Trivy</a:t>
            </a:r>
            <a:r>
              <a:rPr lang="en-IN" sz="1600" b="1" dirty="0">
                <a:latin typeface="Times New Roman" panose="02020603050405020304" pitchFamily="18" charset="0"/>
                <a:cs typeface="Times New Roman" panose="02020603050405020304" pitchFamily="18" charset="0"/>
              </a:rPr>
              <a:t> Scan</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trivy</a:t>
            </a:r>
            <a:r>
              <a:rPr lang="en-IN" sz="1600" dirty="0">
                <a:latin typeface="Times New Roman" panose="02020603050405020304" pitchFamily="18" charset="0"/>
                <a:cs typeface="Times New Roman" panose="02020603050405020304" pitchFamily="18" charset="0"/>
              </a:rPr>
              <a:t> image </a:t>
            </a:r>
            <a:r>
              <a:rPr lang="en-IN" sz="1600" dirty="0" err="1">
                <a:latin typeface="Times New Roman" panose="02020603050405020304" pitchFamily="18" charset="0"/>
                <a:cs typeface="Times New Roman" panose="02020603050405020304" pitchFamily="18" charset="0"/>
              </a:rPr>
              <a:t>hospital-management-system-backend:latest</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trivy</a:t>
            </a:r>
            <a:r>
              <a:rPr lang="en-IN" sz="1600" dirty="0">
                <a:latin typeface="Times New Roman" panose="02020603050405020304" pitchFamily="18" charset="0"/>
                <a:cs typeface="Times New Roman" panose="02020603050405020304" pitchFamily="18" charset="0"/>
              </a:rPr>
              <a:t> image </a:t>
            </a:r>
            <a:r>
              <a:rPr lang="en-IN" sz="1600" dirty="0" err="1">
                <a:latin typeface="Times New Roman" panose="02020603050405020304" pitchFamily="18" charset="0"/>
                <a:cs typeface="Times New Roman" panose="02020603050405020304" pitchFamily="18" charset="0"/>
              </a:rPr>
              <a:t>hospital-management-system-frontend:latest</a:t>
            </a:r>
            <a:endParaRPr lang="en-IN" sz="1600" dirty="0">
              <a:latin typeface="Times New Roman" panose="02020603050405020304" pitchFamily="18" charset="0"/>
              <a:cs typeface="Times New Roman" panose="02020603050405020304" pitchFamily="18" charset="0"/>
            </a:endParaRP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11. Deployment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(Local / Docker / </a:t>
            </a:r>
            <a:r>
              <a:rPr lang="en-IN" sz="1600" dirty="0" err="1">
                <a:latin typeface="Times New Roman" panose="02020603050405020304" pitchFamily="18" charset="0"/>
                <a:cs typeface="Times New Roman" panose="02020603050405020304" pitchFamily="18" charset="0"/>
              </a:rPr>
              <a:t>Vercel</a:t>
            </a:r>
            <a:r>
              <a:rPr lang="en-IN" sz="1600" dirty="0">
                <a:latin typeface="Times New Roman" panose="02020603050405020304" pitchFamily="18" charset="0"/>
                <a:cs typeface="Times New Roman" panose="02020603050405020304" pitchFamily="18" charset="0"/>
              </a:rPr>
              <a:t> via GitHub Actions)</a:t>
            </a:r>
          </a:p>
        </p:txBody>
      </p:sp>
    </p:spTree>
    <p:extLst>
      <p:ext uri="{BB962C8B-B14F-4D97-AF65-F5344CB8AC3E}">
        <p14:creationId xmlns:p14="http://schemas.microsoft.com/office/powerpoint/2010/main" val="3322080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3225C4-BA55-31BB-78A5-6C16B61161E3}"/>
              </a:ext>
            </a:extLst>
          </p:cNvPr>
          <p:cNvSpPr txBox="1"/>
          <p:nvPr/>
        </p:nvSpPr>
        <p:spPr>
          <a:xfrm>
            <a:off x="2799243" y="1153142"/>
            <a:ext cx="6093500" cy="3878754"/>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IMPLEMENTATION PLAN</a:t>
            </a:r>
          </a:p>
          <a:p>
            <a:pPr>
              <a:buNone/>
            </a:pPr>
            <a:endParaRPr lang="en-US" sz="2800" b="1" dirty="0">
              <a:latin typeface="Times New Roman" panose="02020603050405020304" pitchFamily="18" charset="0"/>
              <a:cs typeface="Times New Roman" panose="02020603050405020304" pitchFamily="18" charset="0"/>
            </a:endParaRPr>
          </a:p>
          <a:p>
            <a:pPr>
              <a:lnSpc>
                <a:spcPct val="150000"/>
              </a:lnSpc>
              <a:buNone/>
            </a:pPr>
            <a:r>
              <a:rPr lang="en-US" sz="2200" dirty="0">
                <a:latin typeface="Times New Roman" panose="02020603050405020304" pitchFamily="18" charset="0"/>
                <a:cs typeface="Times New Roman" panose="02020603050405020304" pitchFamily="18" charset="0"/>
              </a:rPr>
              <a:t>Phase 1 – HMS Application Development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Phase 2 – </a:t>
            </a:r>
            <a:r>
              <a:rPr lang="en-US" sz="2200" dirty="0" err="1">
                <a:latin typeface="Times New Roman" panose="02020603050405020304" pitchFamily="18" charset="0"/>
                <a:cs typeface="Times New Roman" panose="02020603050405020304" pitchFamily="18" charset="0"/>
              </a:rPr>
              <a:t>Dockerization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Phase 3 – CI/CD Workflow Creation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Phase 4 – Security Integration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Phase 5 – Testing &amp; Validation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Phase 6 – Deployment</a:t>
            </a:r>
          </a:p>
        </p:txBody>
      </p:sp>
    </p:spTree>
    <p:extLst>
      <p:ext uri="{BB962C8B-B14F-4D97-AF65-F5344CB8AC3E}">
        <p14:creationId xmlns:p14="http://schemas.microsoft.com/office/powerpoint/2010/main" val="2779506480"/>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ACC705-0F17-09C1-95AC-F5437CCE05E2}"/>
              </a:ext>
            </a:extLst>
          </p:cNvPr>
          <p:cNvSpPr txBox="1"/>
          <p:nvPr/>
        </p:nvSpPr>
        <p:spPr>
          <a:xfrm>
            <a:off x="2797752" y="1106136"/>
            <a:ext cx="7998402" cy="4493538"/>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EXECUTION FLOW</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When a developer pushes code to the repository, the secret scan workflow runs first. If </a:t>
            </a:r>
            <a:r>
              <a:rPr lang="en-US" sz="2200" dirty="0" err="1">
                <a:latin typeface="Times New Roman" panose="02020603050405020304" pitchFamily="18" charset="0"/>
                <a:cs typeface="Times New Roman" panose="02020603050405020304" pitchFamily="18" charset="0"/>
              </a:rPr>
              <a:t>Gitleaks</a:t>
            </a:r>
            <a:r>
              <a:rPr lang="en-US" sz="2200" dirty="0">
                <a:latin typeface="Times New Roman" panose="02020603050405020304" pitchFamily="18" charset="0"/>
                <a:cs typeface="Times New Roman" panose="02020603050405020304" pitchFamily="18" charset="0"/>
              </a:rPr>
              <a:t> detects a suspicious pattern the pipeline halts. Once secret scanning passes, ci-</a:t>
            </a:r>
            <a:r>
              <a:rPr lang="en-US" sz="2200" dirty="0" err="1">
                <a:latin typeface="Times New Roman" panose="02020603050405020304" pitchFamily="18" charset="0"/>
                <a:cs typeface="Times New Roman" panose="02020603050405020304" pitchFamily="18" charset="0"/>
              </a:rPr>
              <a:t>backend.yml</a:t>
            </a:r>
            <a:r>
              <a:rPr lang="en-US" sz="2200" dirty="0">
                <a:latin typeface="Times New Roman" panose="02020603050405020304" pitchFamily="18" charset="0"/>
                <a:cs typeface="Times New Roman" panose="02020603050405020304" pitchFamily="18" charset="0"/>
              </a:rPr>
              <a:t> runs Ruff and </a:t>
            </a:r>
            <a:r>
              <a:rPr lang="en-US" sz="2200" dirty="0" err="1">
                <a:latin typeface="Times New Roman" panose="02020603050405020304" pitchFamily="18" charset="0"/>
                <a:cs typeface="Times New Roman" panose="02020603050405020304" pitchFamily="18" charset="0"/>
              </a:rPr>
              <a:t>Pytest</a:t>
            </a:r>
            <a:r>
              <a:rPr lang="en-US" sz="2200" dirty="0">
                <a:latin typeface="Times New Roman" panose="02020603050405020304" pitchFamily="18" charset="0"/>
                <a:cs typeface="Times New Roman" panose="02020603050405020304" pitchFamily="18" charset="0"/>
              </a:rPr>
              <a:t> while ci-</a:t>
            </a:r>
            <a:r>
              <a:rPr lang="en-US" sz="2200" dirty="0" err="1">
                <a:latin typeface="Times New Roman" panose="02020603050405020304" pitchFamily="18" charset="0"/>
                <a:cs typeface="Times New Roman" panose="02020603050405020304" pitchFamily="18" charset="0"/>
              </a:rPr>
              <a:t>frontend.yml</a:t>
            </a:r>
            <a:r>
              <a:rPr lang="en-US" sz="2200" dirty="0">
                <a:latin typeface="Times New Roman" panose="02020603050405020304" pitchFamily="18" charset="0"/>
                <a:cs typeface="Times New Roman" panose="02020603050405020304" pitchFamily="18" charset="0"/>
              </a:rPr>
              <a:t> runs the TypeScript compiler and builds the Vite bundle in parallel. If both succeed, docker-</a:t>
            </a:r>
            <a:r>
              <a:rPr lang="en-US" sz="2200" dirty="0" err="1">
                <a:latin typeface="Times New Roman" panose="02020603050405020304" pitchFamily="18" charset="0"/>
                <a:cs typeface="Times New Roman" panose="02020603050405020304" pitchFamily="18" charset="0"/>
              </a:rPr>
              <a:t>publish.yml</a:t>
            </a:r>
            <a:r>
              <a:rPr lang="en-US" sz="2200" dirty="0">
                <a:latin typeface="Times New Roman" panose="02020603050405020304" pitchFamily="18" charset="0"/>
                <a:cs typeface="Times New Roman" panose="02020603050405020304" pitchFamily="18" charset="0"/>
              </a:rPr>
              <a:t> builds and pushes images to GHCR. docker </a:t>
            </a:r>
            <a:r>
              <a:rPr lang="en-US" sz="2200" dirty="0" err="1">
                <a:latin typeface="Times New Roman" panose="02020603050405020304" pitchFamily="18" charset="0"/>
                <a:cs typeface="Times New Roman" panose="02020603050405020304" pitchFamily="18" charset="0"/>
              </a:rPr>
              <a:t>scan.yml</a:t>
            </a:r>
            <a:r>
              <a:rPr lang="en-US" sz="2200" dirty="0">
                <a:latin typeface="Times New Roman" panose="02020603050405020304" pitchFamily="18" charset="0"/>
                <a:cs typeface="Times New Roman" panose="02020603050405020304" pitchFamily="18" charset="0"/>
              </a:rPr>
              <a:t> then scans the published images with </a:t>
            </a:r>
            <a:r>
              <a:rPr lang="en-US" sz="2200" dirty="0" err="1">
                <a:latin typeface="Times New Roman" panose="02020603050405020304" pitchFamily="18" charset="0"/>
                <a:cs typeface="Times New Roman" panose="02020603050405020304" pitchFamily="18" charset="0"/>
              </a:rPr>
              <a:t>Trivy</a:t>
            </a:r>
            <a:r>
              <a:rPr lang="en-US" sz="2200" dirty="0">
                <a:latin typeface="Times New Roman" panose="02020603050405020304" pitchFamily="18" charset="0"/>
                <a:cs typeface="Times New Roman" panose="02020603050405020304" pitchFamily="18" charset="0"/>
              </a:rPr>
              <a:t>. If any fixable critical vulnerability is found the pipeline stops and reports the finding. Otherwise </a:t>
            </a:r>
            <a:r>
              <a:rPr lang="en-US" sz="2200" dirty="0" err="1">
                <a:latin typeface="Times New Roman" panose="02020603050405020304" pitchFamily="18" charset="0"/>
                <a:cs typeface="Times New Roman" panose="02020603050405020304" pitchFamily="18" charset="0"/>
              </a:rPr>
              <a:t>deploy.yml</a:t>
            </a:r>
            <a:r>
              <a:rPr lang="en-US" sz="2200" dirty="0">
                <a:latin typeface="Times New Roman" panose="02020603050405020304" pitchFamily="18" charset="0"/>
                <a:cs typeface="Times New Roman" panose="02020603050405020304" pitchFamily="18" charset="0"/>
              </a:rPr>
              <a:t> deploys the new build to </a:t>
            </a:r>
            <a:r>
              <a:rPr lang="en-US" sz="2200" dirty="0" err="1">
                <a:latin typeface="Times New Roman" panose="02020603050405020304" pitchFamily="18" charset="0"/>
                <a:cs typeface="Times New Roman" panose="02020603050405020304" pitchFamily="18" charset="0"/>
              </a:rPr>
              <a:t>Vercel</a:t>
            </a:r>
            <a:r>
              <a:rPr lang="en-US" sz="2200" dirty="0">
                <a:latin typeface="Times New Roman" panose="02020603050405020304" pitchFamily="18" charset="0"/>
                <a:cs typeface="Times New Roman" panose="02020603050405020304" pitchFamily="18" charset="0"/>
              </a:rPr>
              <a:t> and runs a smoke test against the deployed health endpoint. The entire flow typically completes in five to ten minutes.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2393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190800-EB94-12BD-8B7D-46B57438FD5A}"/>
              </a:ext>
            </a:extLst>
          </p:cNvPr>
          <p:cNvSpPr txBox="1"/>
          <p:nvPr/>
        </p:nvSpPr>
        <p:spPr>
          <a:xfrm>
            <a:off x="1976870" y="381638"/>
            <a:ext cx="6094268"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RESULTS AND OUTPUTS</a:t>
            </a:r>
          </a:p>
        </p:txBody>
      </p:sp>
      <p:pic>
        <p:nvPicPr>
          <p:cNvPr id="4" name="image3.png">
            <a:extLst>
              <a:ext uri="{FF2B5EF4-FFF2-40B4-BE49-F238E27FC236}">
                <a16:creationId xmlns:a16="http://schemas.microsoft.com/office/drawing/2014/main" id="{D636A1A8-A310-955B-8B07-E89D77BA8DB3}"/>
              </a:ext>
            </a:extLst>
          </p:cNvPr>
          <p:cNvPicPr/>
          <p:nvPr/>
        </p:nvPicPr>
        <p:blipFill>
          <a:blip r:embed="rId2"/>
          <a:srcRect/>
          <a:stretch>
            <a:fillRect/>
          </a:stretch>
        </p:blipFill>
        <p:spPr>
          <a:xfrm>
            <a:off x="1976870" y="1471238"/>
            <a:ext cx="9591618" cy="4534708"/>
          </a:xfrm>
          <a:prstGeom prst="rect">
            <a:avLst/>
          </a:prstGeom>
          <a:ln/>
        </p:spPr>
      </p:pic>
      <p:sp>
        <p:nvSpPr>
          <p:cNvPr id="6" name="TextBox 5">
            <a:extLst>
              <a:ext uri="{FF2B5EF4-FFF2-40B4-BE49-F238E27FC236}">
                <a16:creationId xmlns:a16="http://schemas.microsoft.com/office/drawing/2014/main" id="{0DFEB4FA-41E6-ED8E-B6E0-FF7E15253F0D}"/>
              </a:ext>
            </a:extLst>
          </p:cNvPr>
          <p:cNvSpPr txBox="1"/>
          <p:nvPr/>
        </p:nvSpPr>
        <p:spPr>
          <a:xfrm>
            <a:off x="5353916" y="972604"/>
            <a:ext cx="2834120" cy="369332"/>
          </a:xfrm>
          <a:prstGeom prst="rect">
            <a:avLst/>
          </a:prstGeom>
          <a:noFill/>
        </p:spPr>
        <p:txBody>
          <a:bodyPr wrap="square">
            <a:spAutoFit/>
          </a:bodyPr>
          <a:lstStyle/>
          <a:p>
            <a:r>
              <a:rPr lang="en-IN" sz="1800" i="1" dirty="0">
                <a:effectLst/>
                <a:latin typeface="Times New Roman" panose="02020603050405020304" pitchFamily="18" charset="0"/>
                <a:ea typeface="Times New Roman" panose="02020603050405020304" pitchFamily="18" charset="0"/>
              </a:rPr>
              <a:t>CI/CD Pipeline Run Results</a:t>
            </a:r>
            <a:endParaRPr lang="en-IN" dirty="0"/>
          </a:p>
        </p:txBody>
      </p:sp>
    </p:spTree>
    <p:extLst>
      <p:ext uri="{BB962C8B-B14F-4D97-AF65-F5344CB8AC3E}">
        <p14:creationId xmlns:p14="http://schemas.microsoft.com/office/powerpoint/2010/main" val="1953858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8.png">
            <a:extLst>
              <a:ext uri="{FF2B5EF4-FFF2-40B4-BE49-F238E27FC236}">
                <a16:creationId xmlns:a16="http://schemas.microsoft.com/office/drawing/2014/main" id="{079CCC7D-B45C-3FFC-F9E3-7FFBFA035D60}"/>
              </a:ext>
            </a:extLst>
          </p:cNvPr>
          <p:cNvPicPr/>
          <p:nvPr/>
        </p:nvPicPr>
        <p:blipFill>
          <a:blip r:embed="rId2"/>
          <a:srcRect/>
          <a:stretch>
            <a:fillRect/>
          </a:stretch>
        </p:blipFill>
        <p:spPr>
          <a:xfrm>
            <a:off x="2814637" y="1481137"/>
            <a:ext cx="7908781" cy="4618327"/>
          </a:xfrm>
          <a:prstGeom prst="rect">
            <a:avLst/>
          </a:prstGeom>
          <a:ln/>
        </p:spPr>
      </p:pic>
      <p:sp>
        <p:nvSpPr>
          <p:cNvPr id="4" name="TextBox 3">
            <a:extLst>
              <a:ext uri="{FF2B5EF4-FFF2-40B4-BE49-F238E27FC236}">
                <a16:creationId xmlns:a16="http://schemas.microsoft.com/office/drawing/2014/main" id="{17E23F17-EC33-B963-B10D-5F69CA12160C}"/>
              </a:ext>
            </a:extLst>
          </p:cNvPr>
          <p:cNvSpPr txBox="1"/>
          <p:nvPr/>
        </p:nvSpPr>
        <p:spPr>
          <a:xfrm>
            <a:off x="5385089" y="984311"/>
            <a:ext cx="6094268" cy="369332"/>
          </a:xfrm>
          <a:prstGeom prst="rect">
            <a:avLst/>
          </a:prstGeom>
          <a:noFill/>
        </p:spPr>
        <p:txBody>
          <a:bodyPr wrap="square">
            <a:spAutoFit/>
          </a:bodyPr>
          <a:lstStyle/>
          <a:p>
            <a:r>
              <a:rPr lang="en-IN" sz="1800" i="1" dirty="0">
                <a:effectLst/>
                <a:latin typeface="Times New Roman" panose="02020603050405020304" pitchFamily="18" charset="0"/>
                <a:ea typeface="Times New Roman" panose="02020603050405020304" pitchFamily="18" charset="0"/>
              </a:rPr>
              <a:t>Vulnerability Scan Results</a:t>
            </a:r>
            <a:endParaRPr lang="en-IN" dirty="0"/>
          </a:p>
        </p:txBody>
      </p:sp>
    </p:spTree>
    <p:extLst>
      <p:ext uri="{BB962C8B-B14F-4D97-AF65-F5344CB8AC3E}">
        <p14:creationId xmlns:p14="http://schemas.microsoft.com/office/powerpoint/2010/main" val="921801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04C549-9A59-9C3E-87F1-C7FACAD44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83" y="1288473"/>
            <a:ext cx="9319490" cy="5242213"/>
          </a:xfrm>
          <a:prstGeom prst="rect">
            <a:avLst/>
          </a:prstGeom>
        </p:spPr>
      </p:pic>
      <p:sp>
        <p:nvSpPr>
          <p:cNvPr id="5" name="TextBox 4">
            <a:extLst>
              <a:ext uri="{FF2B5EF4-FFF2-40B4-BE49-F238E27FC236}">
                <a16:creationId xmlns:a16="http://schemas.microsoft.com/office/drawing/2014/main" id="{A383A939-345F-E425-2CFC-29196B056A64}"/>
              </a:ext>
            </a:extLst>
          </p:cNvPr>
          <p:cNvSpPr txBox="1"/>
          <p:nvPr/>
        </p:nvSpPr>
        <p:spPr>
          <a:xfrm>
            <a:off x="4647334" y="734929"/>
            <a:ext cx="3062721" cy="369332"/>
          </a:xfrm>
          <a:prstGeom prst="rect">
            <a:avLst/>
          </a:prstGeom>
          <a:noFill/>
        </p:spPr>
        <p:txBody>
          <a:bodyPr wrap="square">
            <a:spAutoFit/>
          </a:bodyPr>
          <a:lstStyle/>
          <a:p>
            <a:r>
              <a:rPr lang="en-IN" sz="1800" i="1" dirty="0">
                <a:effectLst/>
                <a:latin typeface="Times New Roman" panose="02020603050405020304" pitchFamily="18" charset="0"/>
                <a:ea typeface="Times New Roman" panose="02020603050405020304" pitchFamily="18" charset="0"/>
              </a:rPr>
              <a:t>HMS Application Dashboard</a:t>
            </a:r>
            <a:endParaRPr lang="en-IN" dirty="0"/>
          </a:p>
        </p:txBody>
      </p:sp>
    </p:spTree>
    <p:extLst>
      <p:ext uri="{BB962C8B-B14F-4D97-AF65-F5344CB8AC3E}">
        <p14:creationId xmlns:p14="http://schemas.microsoft.com/office/powerpoint/2010/main" val="3391629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E60CC9-06C9-7DE9-9CAA-06A210AB7886}"/>
              </a:ext>
            </a:extLst>
          </p:cNvPr>
          <p:cNvSpPr txBox="1"/>
          <p:nvPr/>
        </p:nvSpPr>
        <p:spPr>
          <a:xfrm>
            <a:off x="2236641" y="335845"/>
            <a:ext cx="9338831" cy="5878532"/>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CONCLUSION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This project developed </a:t>
            </a:r>
            <a:r>
              <a:rPr lang="en-US" sz="2200" dirty="0" err="1">
                <a:latin typeface="Times New Roman" panose="02020603050405020304" pitchFamily="18" charset="0"/>
                <a:cs typeface="Times New Roman" panose="02020603050405020304" pitchFamily="18" charset="0"/>
              </a:rPr>
              <a:t>MedCore</a:t>
            </a:r>
            <a:r>
              <a:rPr lang="en-US" sz="2200" dirty="0">
                <a:latin typeface="Times New Roman" panose="02020603050405020304" pitchFamily="18" charset="0"/>
                <a:cs typeface="Times New Roman" panose="02020603050405020304" pitchFamily="18" charset="0"/>
              </a:rPr>
              <a:t> HMS with a secure, multi-gate CI/CD pipeline for safe and reliable software delivery. The pipeline enforces strict validation, testing, and vulnerability scanning, preventing insecure deployments. It improved system reliability, reduced manual errors, and ensured consistency across environments. Overall, it demonstrates how </a:t>
            </a:r>
            <a:r>
              <a:rPr lang="en-US" sz="2200" dirty="0" err="1">
                <a:latin typeface="Times New Roman" panose="02020603050405020304" pitchFamily="18" charset="0"/>
                <a:cs typeface="Times New Roman" panose="02020603050405020304" pitchFamily="18" charset="0"/>
              </a:rPr>
              <a:t>DevSecOps</a:t>
            </a:r>
            <a:r>
              <a:rPr lang="en-US" sz="2200" dirty="0">
                <a:latin typeface="Times New Roman" panose="02020603050405020304" pitchFamily="18" charset="0"/>
                <a:cs typeface="Times New Roman" panose="02020603050405020304" pitchFamily="18" charset="0"/>
              </a:rPr>
              <a:t> practices enhance security and efficiency in healthcare systems.</a:t>
            </a:r>
          </a:p>
          <a:p>
            <a:pPr algn="just">
              <a:buNone/>
            </a:pPr>
            <a:endParaRPr lang="en-US" sz="2200" dirty="0">
              <a:latin typeface="Times New Roman" panose="02020603050405020304" pitchFamily="18" charset="0"/>
              <a:cs typeface="Times New Roman" panose="02020603050405020304" pitchFamily="18" charset="0"/>
            </a:endParaRPr>
          </a:p>
          <a:p>
            <a:pPr>
              <a:buNone/>
            </a:pPr>
            <a:r>
              <a:rPr lang="en-US" sz="2200" b="1" dirty="0">
                <a:latin typeface="Times New Roman" panose="02020603050405020304" pitchFamily="18" charset="0"/>
                <a:cs typeface="Times New Roman" panose="02020603050405020304" pitchFamily="18" charset="0"/>
              </a:rPr>
              <a:t>FUTURE ENHANCEMENTS</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Future work includes cloud-native deployment using Kubernetes with autoscaling and zero-downtime updates.</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Observability tools like Prometheus and Grafana can be added for monitoring and performance tracking.</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Advanced security features such as DAST, SBOM, and fine-grained access control can strengthen protection.</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Additional improvements include AI-based features, interoperability standards, and compliance support.</a:t>
            </a:r>
          </a:p>
        </p:txBody>
      </p:sp>
    </p:spTree>
    <p:extLst>
      <p:ext uri="{BB962C8B-B14F-4D97-AF65-F5344CB8AC3E}">
        <p14:creationId xmlns:p14="http://schemas.microsoft.com/office/powerpoint/2010/main" val="2435265171"/>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FB4D7-2A0E-56BC-D1B5-63E35A80EBB8}"/>
              </a:ext>
            </a:extLst>
          </p:cNvPr>
          <p:cNvSpPr txBox="1"/>
          <p:nvPr/>
        </p:nvSpPr>
        <p:spPr>
          <a:xfrm>
            <a:off x="4199659" y="2857224"/>
            <a:ext cx="4798868"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THANK YOU</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82397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872</TotalTime>
  <Words>2524</Words>
  <Application>Microsoft Office PowerPoint</Application>
  <PresentationFormat>Widescreen</PresentationFormat>
  <Paragraphs>199</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vt:lpstr>
      <vt:lpstr>Arial</vt:lpstr>
      <vt:lpstr>Century Gothic</vt:lpstr>
      <vt:lpstr>Courier New</vt:lpstr>
      <vt:lpstr>Times New Roman</vt:lpstr>
      <vt:lpstr>Wingdings</vt:lpstr>
      <vt:lpstr>Wingdings 3</vt:lpstr>
      <vt:lpstr>Wisp</vt:lpstr>
      <vt:lpstr>An Automated Risk Mitigation in Healthcare Software Delivery using CI&amp;CD Pipelines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S0122383</dc:creator>
  <cp:lastModifiedBy>SANMARGAM SALAI</cp:lastModifiedBy>
  <cp:revision>32</cp:revision>
  <dcterms:created xsi:type="dcterms:W3CDTF">2026-02-12T18:13:53Z</dcterms:created>
  <dcterms:modified xsi:type="dcterms:W3CDTF">2026-05-06T04:52:28Z</dcterms:modified>
</cp:coreProperties>
</file>